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  <p:sldMasterId id="2147483682" r:id="rId2"/>
  </p:sldMasterIdLst>
  <p:notesMasterIdLst>
    <p:notesMasterId r:id="rId21"/>
  </p:notesMasterIdLst>
  <p:sldIdLst>
    <p:sldId id="256" r:id="rId3"/>
    <p:sldId id="258" r:id="rId4"/>
    <p:sldId id="260" r:id="rId5"/>
    <p:sldId id="262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8" r:id="rId19"/>
    <p:sldId id="317" r:id="rId20"/>
  </p:sldIdLst>
  <p:sldSz cx="9144000" cy="5143500" type="screen16x9"/>
  <p:notesSz cx="6858000" cy="9144000"/>
  <p:embeddedFontLst>
    <p:embeddedFont>
      <p:font typeface="Anton" pitchFamily="2" charset="0"/>
      <p:regular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Proxima Nova" panose="020B0604020202020204" charset="0"/>
      <p:regular r:id="rId27"/>
      <p:bold r:id="rId28"/>
      <p:italic r:id="rId29"/>
      <p:boldItalic r:id="rId30"/>
    </p:embeddedFont>
    <p:embeddedFont>
      <p:font typeface="Proxima Nova Semibold" panose="020B0604020202020204" charset="0"/>
      <p:regular r:id="rId31"/>
      <p:bold r:id="rId32"/>
      <p:boldItalic r:id="rId33"/>
    </p:embeddedFont>
    <p:embeddedFont>
      <p:font typeface="Roboto" panose="02000000000000000000" pitchFamily="2" charset="0"/>
      <p:regular r:id="rId34"/>
      <p:bold r:id="rId35"/>
      <p:italic r:id="rId36"/>
      <p:boldItalic r:id="rId37"/>
    </p:embeddedFont>
    <p:embeddedFont>
      <p:font typeface="Staatliches" pitchFamily="2" charset="0"/>
      <p:regular r:id="rId38"/>
    </p:embeddedFont>
    <p:embeddedFont>
      <p:font typeface="Work Sans" pitchFamily="2" charset="0"/>
      <p:regular r:id="rId39"/>
      <p:bold r:id="rId40"/>
      <p:italic r:id="rId41"/>
      <p:boldItalic r:id="rId42"/>
    </p:embeddedFont>
    <p:embeddedFont>
      <p:font typeface="Work Sans Light" pitchFamily="2" charset="0"/>
      <p:regular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FC3332-6E55-419D-A0EF-0245E80A643D}">
  <a:tblStyle styleId="{B7FC3332-6E55-419D-A0EF-0245E80A64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font" Target="fonts/font21.fntdata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0.fntdata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font" Target="fonts/font22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8b385fd27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8b385fd27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8b385fd27f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8b385fd27f_2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a1242414e1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a1242414e1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a1242414e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a1242414e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a1242414e1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a1242414e1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a1242414e1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a1242414e1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a1242414e1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a1242414e1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a1242414e1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a1242414e1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>
          <a:extLst>
            <a:ext uri="{FF2B5EF4-FFF2-40B4-BE49-F238E27FC236}">
              <a16:creationId xmlns:a16="http://schemas.microsoft.com/office/drawing/2014/main" id="{E7994FEC-5BE4-D663-FB49-C1AA4AEE5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a1242414e1_0_251:notes">
            <a:extLst>
              <a:ext uri="{FF2B5EF4-FFF2-40B4-BE49-F238E27FC236}">
                <a16:creationId xmlns:a16="http://schemas.microsoft.com/office/drawing/2014/main" id="{39B1F3F7-30AA-DC10-BE69-7FDA31ADBA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a1242414e1_0_251:notes">
            <a:extLst>
              <a:ext uri="{FF2B5EF4-FFF2-40B4-BE49-F238E27FC236}">
                <a16:creationId xmlns:a16="http://schemas.microsoft.com/office/drawing/2014/main" id="{C9F8FBD1-860C-4E45-D217-FAA8272C89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5329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8b385fd27f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8b385fd27f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freepik.com/" TargetMode="External"/><Relationship Id="rId4" Type="http://schemas.openxmlformats.org/officeDocument/2006/relationships/hyperlink" Target="https://www.flaticon.com/" TargetMode="Externa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932950" y="897550"/>
            <a:ext cx="7263900" cy="32085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218125" y="956825"/>
            <a:ext cx="6707700" cy="2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218125" y="3555800"/>
            <a:ext cx="6707700" cy="404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2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4572000" y="1262450"/>
            <a:ext cx="3578400" cy="27699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764075" y="2392025"/>
            <a:ext cx="2083500" cy="5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4764075" y="3207300"/>
            <a:ext cx="2732100" cy="6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4879875" y="1534825"/>
            <a:ext cx="1061400" cy="719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713150" y="1312550"/>
            <a:ext cx="7717800" cy="32907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360250"/>
            <a:ext cx="7704000" cy="32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Work Sans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Work Sans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Work Sans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Work Sans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Work Sans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Work Sans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Work Sans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Work Sans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/>
          <p:nvPr/>
        </p:nvSpPr>
        <p:spPr>
          <a:xfrm>
            <a:off x="1143600" y="2240800"/>
            <a:ext cx="3004800" cy="15549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4995600" y="2240800"/>
            <a:ext cx="3004800" cy="15549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1368152" y="2820712"/>
            <a:ext cx="25557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5220152" y="2820712"/>
            <a:ext cx="25557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3"/>
          </p:nvPr>
        </p:nvSpPr>
        <p:spPr>
          <a:xfrm>
            <a:off x="1368150" y="2430947"/>
            <a:ext cx="2555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4"/>
          </p:nvPr>
        </p:nvSpPr>
        <p:spPr>
          <a:xfrm>
            <a:off x="5220150" y="2430947"/>
            <a:ext cx="2555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/>
          <p:nvPr/>
        </p:nvSpPr>
        <p:spPr>
          <a:xfrm>
            <a:off x="720100" y="1313050"/>
            <a:ext cx="7723800" cy="32904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2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/>
          <p:nvPr/>
        </p:nvSpPr>
        <p:spPr>
          <a:xfrm>
            <a:off x="720000" y="1835300"/>
            <a:ext cx="4906800" cy="23469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720010" y="529475"/>
            <a:ext cx="7704000" cy="5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ubTitle" idx="1"/>
          </p:nvPr>
        </p:nvSpPr>
        <p:spPr>
          <a:xfrm>
            <a:off x="856200" y="1957487"/>
            <a:ext cx="4770600" cy="20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45595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8"/>
          <p:cNvSpPr/>
          <p:nvPr/>
        </p:nvSpPr>
        <p:spPr>
          <a:xfrm>
            <a:off x="1080650" y="2023725"/>
            <a:ext cx="6982800" cy="15819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214600" y="1666800"/>
            <a:ext cx="6714900" cy="189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/>
          <p:nvPr/>
        </p:nvSpPr>
        <p:spPr>
          <a:xfrm>
            <a:off x="720100" y="1363950"/>
            <a:ext cx="3990300" cy="24156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789300" y="1465850"/>
            <a:ext cx="3852000" cy="10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1"/>
          </p:nvPr>
        </p:nvSpPr>
        <p:spPr>
          <a:xfrm>
            <a:off x="789200" y="2813625"/>
            <a:ext cx="3852000" cy="7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/>
          <p:nvPr/>
        </p:nvSpPr>
        <p:spPr>
          <a:xfrm>
            <a:off x="720100" y="540000"/>
            <a:ext cx="2937900" cy="16443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750700" y="624250"/>
            <a:ext cx="2876700" cy="9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1"/>
          <p:cNvSpPr/>
          <p:nvPr/>
        </p:nvSpPr>
        <p:spPr>
          <a:xfrm>
            <a:off x="1547850" y="1374300"/>
            <a:ext cx="6034200" cy="24282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1950275" y="1374300"/>
            <a:ext cx="5243400" cy="138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2143250" y="3131751"/>
            <a:ext cx="4857300" cy="387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dk2"/>
                </a:solidFill>
              </a:defRPr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/>
          <p:nvPr/>
        </p:nvSpPr>
        <p:spPr>
          <a:xfrm>
            <a:off x="710100" y="1276925"/>
            <a:ext cx="7717800" cy="32292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713150" y="540000"/>
            <a:ext cx="7717800" cy="477600"/>
          </a:xfrm>
          <a:prstGeom prst="rect">
            <a:avLst/>
          </a:prstGeom>
          <a:solidFill>
            <a:srgbClr val="000000">
              <a:alpha val="675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908374" y="2251133"/>
            <a:ext cx="23823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2" hasCustomPrompt="1"/>
          </p:nvPr>
        </p:nvSpPr>
        <p:spPr>
          <a:xfrm>
            <a:off x="1720375" y="1582348"/>
            <a:ext cx="758400" cy="283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3"/>
          </p:nvPr>
        </p:nvSpPr>
        <p:spPr>
          <a:xfrm>
            <a:off x="3377302" y="2251142"/>
            <a:ext cx="23823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4" hasCustomPrompt="1"/>
          </p:nvPr>
        </p:nvSpPr>
        <p:spPr>
          <a:xfrm>
            <a:off x="4189283" y="1582316"/>
            <a:ext cx="758400" cy="283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5"/>
          </p:nvPr>
        </p:nvSpPr>
        <p:spPr>
          <a:xfrm>
            <a:off x="5849564" y="2251167"/>
            <a:ext cx="23823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6" hasCustomPrompt="1"/>
          </p:nvPr>
        </p:nvSpPr>
        <p:spPr>
          <a:xfrm>
            <a:off x="6661552" y="1582348"/>
            <a:ext cx="758400" cy="283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7"/>
          </p:nvPr>
        </p:nvSpPr>
        <p:spPr>
          <a:xfrm>
            <a:off x="906550" y="3736050"/>
            <a:ext cx="23823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8" hasCustomPrompt="1"/>
          </p:nvPr>
        </p:nvSpPr>
        <p:spPr>
          <a:xfrm>
            <a:off x="1718550" y="3067257"/>
            <a:ext cx="758400" cy="283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9"/>
          </p:nvPr>
        </p:nvSpPr>
        <p:spPr>
          <a:xfrm>
            <a:off x="908374" y="1964044"/>
            <a:ext cx="23823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3"/>
          </p:nvPr>
        </p:nvSpPr>
        <p:spPr>
          <a:xfrm>
            <a:off x="3377252" y="1964044"/>
            <a:ext cx="23823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4"/>
          </p:nvPr>
        </p:nvSpPr>
        <p:spPr>
          <a:xfrm>
            <a:off x="5849717" y="1964069"/>
            <a:ext cx="23823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5"/>
          </p:nvPr>
        </p:nvSpPr>
        <p:spPr>
          <a:xfrm>
            <a:off x="906664" y="3448951"/>
            <a:ext cx="23823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6"/>
          </p:nvPr>
        </p:nvSpPr>
        <p:spPr>
          <a:xfrm>
            <a:off x="3375527" y="3736098"/>
            <a:ext cx="23823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17" hasCustomPrompt="1"/>
          </p:nvPr>
        </p:nvSpPr>
        <p:spPr>
          <a:xfrm>
            <a:off x="4187500" y="3067274"/>
            <a:ext cx="758400" cy="283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8"/>
          </p:nvPr>
        </p:nvSpPr>
        <p:spPr>
          <a:xfrm>
            <a:off x="5847789" y="3736123"/>
            <a:ext cx="23823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19" hasCustomPrompt="1"/>
          </p:nvPr>
        </p:nvSpPr>
        <p:spPr>
          <a:xfrm>
            <a:off x="6659775" y="3067306"/>
            <a:ext cx="758400" cy="283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0"/>
          </p:nvPr>
        </p:nvSpPr>
        <p:spPr>
          <a:xfrm>
            <a:off x="3375477" y="3449001"/>
            <a:ext cx="23823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21"/>
          </p:nvPr>
        </p:nvSpPr>
        <p:spPr>
          <a:xfrm>
            <a:off x="5847942" y="3449026"/>
            <a:ext cx="23823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3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/>
          <p:nvPr/>
        </p:nvSpPr>
        <p:spPr>
          <a:xfrm rot="10800000">
            <a:off x="710325" y="1180250"/>
            <a:ext cx="7723200" cy="30369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title"/>
          </p:nvPr>
        </p:nvSpPr>
        <p:spPr>
          <a:xfrm>
            <a:off x="1582500" y="3657399"/>
            <a:ext cx="5979000" cy="280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ubTitle" idx="1"/>
          </p:nvPr>
        </p:nvSpPr>
        <p:spPr>
          <a:xfrm>
            <a:off x="1582575" y="1288924"/>
            <a:ext cx="5979000" cy="19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5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/>
          <p:nvPr/>
        </p:nvSpPr>
        <p:spPr>
          <a:xfrm>
            <a:off x="713150" y="1312550"/>
            <a:ext cx="7717800" cy="32907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5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5_2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/>
          <p:nvPr/>
        </p:nvSpPr>
        <p:spPr>
          <a:xfrm>
            <a:off x="720100" y="1313050"/>
            <a:ext cx="2706300" cy="32904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5_2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9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2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720000" y="1391238"/>
            <a:ext cx="3312600" cy="23610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1285450" y="1470963"/>
            <a:ext cx="24519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ubTitle" idx="1"/>
          </p:nvPr>
        </p:nvSpPr>
        <p:spPr>
          <a:xfrm>
            <a:off x="1285450" y="2367288"/>
            <a:ext cx="2451900" cy="12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9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/>
          <p:nvPr/>
        </p:nvSpPr>
        <p:spPr>
          <a:xfrm rot="10800000" flipH="1">
            <a:off x="1840750" y="1545725"/>
            <a:ext cx="5448300" cy="22290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2195624" y="1734150"/>
            <a:ext cx="4752900" cy="55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subTitle" idx="1"/>
          </p:nvPr>
        </p:nvSpPr>
        <p:spPr>
          <a:xfrm>
            <a:off x="2195425" y="2396600"/>
            <a:ext cx="47529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9_1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/>
          <p:nvPr/>
        </p:nvSpPr>
        <p:spPr>
          <a:xfrm>
            <a:off x="3578850" y="1501675"/>
            <a:ext cx="4845000" cy="22554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3709925" y="1583037"/>
            <a:ext cx="4611300" cy="65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ubTitle" idx="1"/>
          </p:nvPr>
        </p:nvSpPr>
        <p:spPr>
          <a:xfrm>
            <a:off x="3709925" y="2360009"/>
            <a:ext cx="46113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9_1_1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/>
          <p:nvPr/>
        </p:nvSpPr>
        <p:spPr>
          <a:xfrm>
            <a:off x="5831400" y="1178050"/>
            <a:ext cx="2592600" cy="34254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5923200" y="1293362"/>
            <a:ext cx="2500800" cy="6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subTitle" idx="1"/>
          </p:nvPr>
        </p:nvSpPr>
        <p:spPr>
          <a:xfrm>
            <a:off x="5923200" y="2164674"/>
            <a:ext cx="2500800" cy="22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9_1_1_2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0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/>
          <p:nvPr/>
        </p:nvSpPr>
        <p:spPr>
          <a:xfrm>
            <a:off x="713100" y="1178050"/>
            <a:ext cx="2592600" cy="34254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746850" y="1249538"/>
            <a:ext cx="2437800" cy="6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subTitle" idx="1"/>
          </p:nvPr>
        </p:nvSpPr>
        <p:spPr>
          <a:xfrm>
            <a:off x="746850" y="2158513"/>
            <a:ext cx="2437800" cy="22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9_1_1_2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4"/>
          <p:cNvSpPr/>
          <p:nvPr/>
        </p:nvSpPr>
        <p:spPr>
          <a:xfrm>
            <a:off x="4247575" y="2219475"/>
            <a:ext cx="4164300" cy="17193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4"/>
          <p:cNvSpPr txBox="1">
            <a:spLocks noGrp="1"/>
          </p:cNvSpPr>
          <p:nvPr>
            <p:ph type="subTitle" idx="1"/>
          </p:nvPr>
        </p:nvSpPr>
        <p:spPr>
          <a:xfrm>
            <a:off x="4337275" y="2331000"/>
            <a:ext cx="3984900" cy="14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solidFill>
            <a:srgbClr val="000000">
              <a:alpha val="675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/>
          <p:nvPr/>
        </p:nvSpPr>
        <p:spPr>
          <a:xfrm>
            <a:off x="713150" y="2861825"/>
            <a:ext cx="7717800" cy="15588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subTitle" idx="1"/>
          </p:nvPr>
        </p:nvSpPr>
        <p:spPr>
          <a:xfrm>
            <a:off x="720000" y="3438606"/>
            <a:ext cx="21411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subTitle" idx="2"/>
          </p:nvPr>
        </p:nvSpPr>
        <p:spPr>
          <a:xfrm>
            <a:off x="6282775" y="3438606"/>
            <a:ext cx="21411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7" name="Google Shape;137;p25"/>
          <p:cNvSpPr txBox="1">
            <a:spLocks noGrp="1"/>
          </p:cNvSpPr>
          <p:nvPr>
            <p:ph type="subTitle" idx="3"/>
          </p:nvPr>
        </p:nvSpPr>
        <p:spPr>
          <a:xfrm>
            <a:off x="720000" y="3043000"/>
            <a:ext cx="21411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subTitle" idx="4"/>
          </p:nvPr>
        </p:nvSpPr>
        <p:spPr>
          <a:xfrm>
            <a:off x="6282775" y="3043000"/>
            <a:ext cx="21411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7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6"/>
          <p:cNvSpPr/>
          <p:nvPr/>
        </p:nvSpPr>
        <p:spPr>
          <a:xfrm>
            <a:off x="720000" y="2375450"/>
            <a:ext cx="7704000" cy="14784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title"/>
          </p:nvPr>
        </p:nvSpPr>
        <p:spPr>
          <a:xfrm flipH="1">
            <a:off x="720000" y="540000"/>
            <a:ext cx="7704000" cy="477600"/>
          </a:xfrm>
          <a:prstGeom prst="rect">
            <a:avLst/>
          </a:prstGeom>
          <a:solidFill>
            <a:srgbClr val="000000">
              <a:alpha val="675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subTitle" idx="1"/>
          </p:nvPr>
        </p:nvSpPr>
        <p:spPr>
          <a:xfrm>
            <a:off x="948475" y="2883675"/>
            <a:ext cx="22218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subTitle" idx="2"/>
          </p:nvPr>
        </p:nvSpPr>
        <p:spPr>
          <a:xfrm>
            <a:off x="5973575" y="2883675"/>
            <a:ext cx="22218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5" name="Google Shape;145;p26"/>
          <p:cNvSpPr txBox="1">
            <a:spLocks noGrp="1"/>
          </p:cNvSpPr>
          <p:nvPr>
            <p:ph type="subTitle" idx="3"/>
          </p:nvPr>
        </p:nvSpPr>
        <p:spPr>
          <a:xfrm>
            <a:off x="3461019" y="2883675"/>
            <a:ext cx="22218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subTitle" idx="4"/>
          </p:nvPr>
        </p:nvSpPr>
        <p:spPr>
          <a:xfrm>
            <a:off x="948475" y="2533775"/>
            <a:ext cx="22218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ubTitle" idx="5"/>
          </p:nvPr>
        </p:nvSpPr>
        <p:spPr>
          <a:xfrm>
            <a:off x="3461019" y="2533775"/>
            <a:ext cx="22218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subTitle" idx="6"/>
          </p:nvPr>
        </p:nvSpPr>
        <p:spPr>
          <a:xfrm>
            <a:off x="5973577" y="2533775"/>
            <a:ext cx="22218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7_2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7"/>
          <p:cNvSpPr/>
          <p:nvPr/>
        </p:nvSpPr>
        <p:spPr>
          <a:xfrm>
            <a:off x="720000" y="1359650"/>
            <a:ext cx="7704000" cy="32436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 flipH="1">
            <a:off x="720000" y="540000"/>
            <a:ext cx="7704000" cy="477600"/>
          </a:xfrm>
          <a:prstGeom prst="rect">
            <a:avLst/>
          </a:prstGeom>
          <a:solidFill>
            <a:srgbClr val="000000">
              <a:alpha val="675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subTitle" idx="1"/>
          </p:nvPr>
        </p:nvSpPr>
        <p:spPr>
          <a:xfrm>
            <a:off x="2583763" y="2885198"/>
            <a:ext cx="3976500" cy="5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4" name="Google Shape;154;p27"/>
          <p:cNvSpPr txBox="1">
            <a:spLocks noGrp="1"/>
          </p:cNvSpPr>
          <p:nvPr>
            <p:ph type="subTitle" idx="2"/>
          </p:nvPr>
        </p:nvSpPr>
        <p:spPr>
          <a:xfrm>
            <a:off x="2583763" y="1909435"/>
            <a:ext cx="3976500" cy="5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5" name="Google Shape;155;p27"/>
          <p:cNvSpPr txBox="1">
            <a:spLocks noGrp="1"/>
          </p:cNvSpPr>
          <p:nvPr>
            <p:ph type="subTitle" idx="3"/>
          </p:nvPr>
        </p:nvSpPr>
        <p:spPr>
          <a:xfrm>
            <a:off x="2583738" y="3832449"/>
            <a:ext cx="3976500" cy="5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6" name="Google Shape;156;p27"/>
          <p:cNvSpPr txBox="1">
            <a:spLocks noGrp="1"/>
          </p:cNvSpPr>
          <p:nvPr>
            <p:ph type="subTitle" idx="4"/>
          </p:nvPr>
        </p:nvSpPr>
        <p:spPr>
          <a:xfrm>
            <a:off x="2583753" y="2466942"/>
            <a:ext cx="39765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ubTitle" idx="5"/>
          </p:nvPr>
        </p:nvSpPr>
        <p:spPr>
          <a:xfrm>
            <a:off x="2583743" y="3414196"/>
            <a:ext cx="39765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7"/>
          <p:cNvSpPr txBox="1">
            <a:spLocks noGrp="1"/>
          </p:cNvSpPr>
          <p:nvPr>
            <p:ph type="subTitle" idx="6"/>
          </p:nvPr>
        </p:nvSpPr>
        <p:spPr>
          <a:xfrm>
            <a:off x="2583757" y="1491176"/>
            <a:ext cx="39765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 and text">
  <p:cSld name="CUSTOM_7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8"/>
          <p:cNvSpPr/>
          <p:nvPr/>
        </p:nvSpPr>
        <p:spPr>
          <a:xfrm>
            <a:off x="713150" y="1327075"/>
            <a:ext cx="7717800" cy="32757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subTitle" idx="1"/>
          </p:nvPr>
        </p:nvSpPr>
        <p:spPr>
          <a:xfrm>
            <a:off x="989425" y="3831700"/>
            <a:ext cx="1859700" cy="5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subTitle" idx="2"/>
          </p:nvPr>
        </p:nvSpPr>
        <p:spPr>
          <a:xfrm>
            <a:off x="6301327" y="3831700"/>
            <a:ext cx="1859700" cy="5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5" name="Google Shape;165;p28"/>
          <p:cNvSpPr txBox="1">
            <a:spLocks noGrp="1"/>
          </p:cNvSpPr>
          <p:nvPr>
            <p:ph type="subTitle" idx="3"/>
          </p:nvPr>
        </p:nvSpPr>
        <p:spPr>
          <a:xfrm>
            <a:off x="3645376" y="3831700"/>
            <a:ext cx="1859700" cy="5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6" name="Google Shape;166;p28"/>
          <p:cNvSpPr txBox="1">
            <a:spLocks noGrp="1"/>
          </p:cNvSpPr>
          <p:nvPr>
            <p:ph type="subTitle" idx="4"/>
          </p:nvPr>
        </p:nvSpPr>
        <p:spPr>
          <a:xfrm>
            <a:off x="989413" y="3446638"/>
            <a:ext cx="1859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subTitle" idx="5"/>
          </p:nvPr>
        </p:nvSpPr>
        <p:spPr>
          <a:xfrm>
            <a:off x="3645363" y="3446638"/>
            <a:ext cx="1859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8"/>
          <p:cNvSpPr txBox="1">
            <a:spLocks noGrp="1"/>
          </p:cNvSpPr>
          <p:nvPr>
            <p:ph type="subTitle" idx="6"/>
          </p:nvPr>
        </p:nvSpPr>
        <p:spPr>
          <a:xfrm>
            <a:off x="6301312" y="3446638"/>
            <a:ext cx="1859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8"/>
          <p:cNvSpPr txBox="1">
            <a:spLocks noGrp="1"/>
          </p:cNvSpPr>
          <p:nvPr>
            <p:ph type="title" idx="7" hasCustomPrompt="1"/>
          </p:nvPr>
        </p:nvSpPr>
        <p:spPr>
          <a:xfrm>
            <a:off x="6736975" y="2604963"/>
            <a:ext cx="988500" cy="686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0" name="Google Shape;170;p28"/>
          <p:cNvSpPr txBox="1">
            <a:spLocks noGrp="1"/>
          </p:cNvSpPr>
          <p:nvPr>
            <p:ph type="title" idx="8" hasCustomPrompt="1"/>
          </p:nvPr>
        </p:nvSpPr>
        <p:spPr>
          <a:xfrm>
            <a:off x="4077750" y="2604963"/>
            <a:ext cx="988500" cy="686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1" name="Google Shape;171;p28"/>
          <p:cNvSpPr txBox="1">
            <a:spLocks noGrp="1"/>
          </p:cNvSpPr>
          <p:nvPr>
            <p:ph type="title" idx="9" hasCustomPrompt="1"/>
          </p:nvPr>
        </p:nvSpPr>
        <p:spPr>
          <a:xfrm>
            <a:off x="1425025" y="2604963"/>
            <a:ext cx="988500" cy="686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2" name="Google Shape;172;p28"/>
          <p:cNvSpPr txBox="1">
            <a:spLocks noGrp="1"/>
          </p:cNvSpPr>
          <p:nvPr>
            <p:ph type="title" idx="13" hasCustomPrompt="1"/>
          </p:nvPr>
        </p:nvSpPr>
        <p:spPr>
          <a:xfrm>
            <a:off x="3021600" y="1608175"/>
            <a:ext cx="3100800" cy="686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0_1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9"/>
          <p:cNvSpPr/>
          <p:nvPr/>
        </p:nvSpPr>
        <p:spPr>
          <a:xfrm>
            <a:off x="713150" y="1803925"/>
            <a:ext cx="7717800" cy="26391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subTitle" idx="1"/>
          </p:nvPr>
        </p:nvSpPr>
        <p:spPr>
          <a:xfrm>
            <a:off x="1430086" y="2381137"/>
            <a:ext cx="25683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3369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8" name="Google Shape;178;p29"/>
          <p:cNvSpPr txBox="1">
            <a:spLocks noGrp="1"/>
          </p:cNvSpPr>
          <p:nvPr>
            <p:ph type="subTitle" idx="2"/>
          </p:nvPr>
        </p:nvSpPr>
        <p:spPr>
          <a:xfrm>
            <a:off x="5145829" y="2381137"/>
            <a:ext cx="25680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16427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subTitle" idx="3"/>
          </p:nvPr>
        </p:nvSpPr>
        <p:spPr>
          <a:xfrm>
            <a:off x="1429975" y="3674550"/>
            <a:ext cx="25683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3369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subTitle" idx="4"/>
          </p:nvPr>
        </p:nvSpPr>
        <p:spPr>
          <a:xfrm>
            <a:off x="5145675" y="3674548"/>
            <a:ext cx="25680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73577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1" name="Google Shape;181;p29"/>
          <p:cNvSpPr txBox="1">
            <a:spLocks noGrp="1"/>
          </p:cNvSpPr>
          <p:nvPr>
            <p:ph type="subTitle" idx="5"/>
          </p:nvPr>
        </p:nvSpPr>
        <p:spPr>
          <a:xfrm>
            <a:off x="1430075" y="1950675"/>
            <a:ext cx="2568300" cy="4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9"/>
          <p:cNvSpPr txBox="1">
            <a:spLocks noGrp="1"/>
          </p:cNvSpPr>
          <p:nvPr>
            <p:ph type="subTitle" idx="6"/>
          </p:nvPr>
        </p:nvSpPr>
        <p:spPr>
          <a:xfrm>
            <a:off x="5145425" y="1950675"/>
            <a:ext cx="2568300" cy="4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9"/>
          <p:cNvSpPr txBox="1">
            <a:spLocks noGrp="1"/>
          </p:cNvSpPr>
          <p:nvPr>
            <p:ph type="subTitle" idx="7"/>
          </p:nvPr>
        </p:nvSpPr>
        <p:spPr>
          <a:xfrm>
            <a:off x="1430075" y="3231017"/>
            <a:ext cx="2568300" cy="4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9"/>
          <p:cNvSpPr txBox="1">
            <a:spLocks noGrp="1"/>
          </p:cNvSpPr>
          <p:nvPr>
            <p:ph type="subTitle" idx="8"/>
          </p:nvPr>
        </p:nvSpPr>
        <p:spPr>
          <a:xfrm>
            <a:off x="5145425" y="3231017"/>
            <a:ext cx="2568300" cy="4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0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/>
          <p:nvPr/>
        </p:nvSpPr>
        <p:spPr>
          <a:xfrm>
            <a:off x="720000" y="1805875"/>
            <a:ext cx="7717800" cy="27201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solidFill>
            <a:srgbClr val="000000">
              <a:alpha val="675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subTitle" idx="1"/>
          </p:nvPr>
        </p:nvSpPr>
        <p:spPr>
          <a:xfrm>
            <a:off x="790625" y="2384250"/>
            <a:ext cx="25209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" name="Google Shape;190;p30"/>
          <p:cNvSpPr txBox="1">
            <a:spLocks noGrp="1"/>
          </p:cNvSpPr>
          <p:nvPr>
            <p:ph type="subTitle" idx="2"/>
          </p:nvPr>
        </p:nvSpPr>
        <p:spPr>
          <a:xfrm>
            <a:off x="3311521" y="2384250"/>
            <a:ext cx="25209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1" name="Google Shape;191;p30"/>
          <p:cNvSpPr txBox="1">
            <a:spLocks noGrp="1"/>
          </p:cNvSpPr>
          <p:nvPr>
            <p:ph type="subTitle" idx="3"/>
          </p:nvPr>
        </p:nvSpPr>
        <p:spPr>
          <a:xfrm>
            <a:off x="5832418" y="2384250"/>
            <a:ext cx="25209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2" name="Google Shape;192;p30"/>
          <p:cNvSpPr txBox="1">
            <a:spLocks noGrp="1"/>
          </p:cNvSpPr>
          <p:nvPr>
            <p:ph type="subTitle" idx="4"/>
          </p:nvPr>
        </p:nvSpPr>
        <p:spPr>
          <a:xfrm>
            <a:off x="790625" y="3773176"/>
            <a:ext cx="25209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3" name="Google Shape;193;p30"/>
          <p:cNvSpPr txBox="1">
            <a:spLocks noGrp="1"/>
          </p:cNvSpPr>
          <p:nvPr>
            <p:ph type="subTitle" idx="5"/>
          </p:nvPr>
        </p:nvSpPr>
        <p:spPr>
          <a:xfrm>
            <a:off x="3311521" y="3773176"/>
            <a:ext cx="25209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4" name="Google Shape;194;p30"/>
          <p:cNvSpPr txBox="1">
            <a:spLocks noGrp="1"/>
          </p:cNvSpPr>
          <p:nvPr>
            <p:ph type="subTitle" idx="6"/>
          </p:nvPr>
        </p:nvSpPr>
        <p:spPr>
          <a:xfrm>
            <a:off x="5832418" y="3773176"/>
            <a:ext cx="25209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5" name="Google Shape;195;p30"/>
          <p:cNvSpPr txBox="1">
            <a:spLocks noGrp="1"/>
          </p:cNvSpPr>
          <p:nvPr>
            <p:ph type="subTitle" idx="7"/>
          </p:nvPr>
        </p:nvSpPr>
        <p:spPr>
          <a:xfrm>
            <a:off x="790625" y="1991450"/>
            <a:ext cx="2520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30"/>
          <p:cNvSpPr txBox="1">
            <a:spLocks noGrp="1"/>
          </p:cNvSpPr>
          <p:nvPr>
            <p:ph type="subTitle" idx="8"/>
          </p:nvPr>
        </p:nvSpPr>
        <p:spPr>
          <a:xfrm>
            <a:off x="3311527" y="1991450"/>
            <a:ext cx="2520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30"/>
          <p:cNvSpPr txBox="1">
            <a:spLocks noGrp="1"/>
          </p:cNvSpPr>
          <p:nvPr>
            <p:ph type="subTitle" idx="9"/>
          </p:nvPr>
        </p:nvSpPr>
        <p:spPr>
          <a:xfrm>
            <a:off x="5832445" y="1991450"/>
            <a:ext cx="2520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30"/>
          <p:cNvSpPr txBox="1">
            <a:spLocks noGrp="1"/>
          </p:cNvSpPr>
          <p:nvPr>
            <p:ph type="subTitle" idx="13"/>
          </p:nvPr>
        </p:nvSpPr>
        <p:spPr>
          <a:xfrm>
            <a:off x="790625" y="3375722"/>
            <a:ext cx="2520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0"/>
          <p:cNvSpPr txBox="1">
            <a:spLocks noGrp="1"/>
          </p:cNvSpPr>
          <p:nvPr>
            <p:ph type="subTitle" idx="14"/>
          </p:nvPr>
        </p:nvSpPr>
        <p:spPr>
          <a:xfrm>
            <a:off x="3311527" y="3375722"/>
            <a:ext cx="2520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subTitle" idx="15"/>
          </p:nvPr>
        </p:nvSpPr>
        <p:spPr>
          <a:xfrm>
            <a:off x="5832445" y="3375722"/>
            <a:ext cx="2520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4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1"/>
          <p:cNvSpPr/>
          <p:nvPr/>
        </p:nvSpPr>
        <p:spPr>
          <a:xfrm rot="10800000">
            <a:off x="2604825" y="533750"/>
            <a:ext cx="3934200" cy="4073700"/>
          </a:xfrm>
          <a:prstGeom prst="rect">
            <a:avLst/>
          </a:prstGeom>
          <a:solidFill>
            <a:srgbClr val="000000">
              <a:alpha val="6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1"/>
          <p:cNvSpPr txBox="1">
            <a:spLocks noGrp="1"/>
          </p:cNvSpPr>
          <p:nvPr>
            <p:ph type="subTitle" idx="1"/>
          </p:nvPr>
        </p:nvSpPr>
        <p:spPr>
          <a:xfrm>
            <a:off x="2642825" y="1883513"/>
            <a:ext cx="3852000" cy="10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5" name="Google Shape;205;p31"/>
          <p:cNvSpPr txBox="1">
            <a:spLocks noGrp="1"/>
          </p:cNvSpPr>
          <p:nvPr>
            <p:ph type="ctrTitle"/>
          </p:nvPr>
        </p:nvSpPr>
        <p:spPr>
          <a:xfrm flipH="1">
            <a:off x="2649175" y="760750"/>
            <a:ext cx="3852000" cy="97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06" name="Google Shape;206;p31"/>
          <p:cNvSpPr txBox="1"/>
          <p:nvPr/>
        </p:nvSpPr>
        <p:spPr>
          <a:xfrm>
            <a:off x="3014088" y="3711613"/>
            <a:ext cx="31158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,</a:t>
            </a:r>
            <a:r>
              <a:rPr lang="en" sz="1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and includes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,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sz="10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2">
    <p:bg>
      <p:bgPr>
        <a:solidFill>
          <a:schemeClr val="accent4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bg>
      <p:bgPr>
        <a:solidFill>
          <a:schemeClr val="accent4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taatliches"/>
              <a:buNone/>
              <a:defRPr sz="30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●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○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■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●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○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■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●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○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■"/>
              <a:defRPr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13" name="Google Shape;213;p34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jwrbyJqFgbXd5vAQgQx9CmguUBCpZDWxb5yk1WCWvdo/cop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1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>
            <a:spLocks noGrp="1"/>
          </p:cNvSpPr>
          <p:nvPr>
            <p:ph type="ctrTitle"/>
          </p:nvPr>
        </p:nvSpPr>
        <p:spPr>
          <a:xfrm>
            <a:off x="1218125" y="956825"/>
            <a:ext cx="6707700" cy="2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dirty="0"/>
              <a:t>Hackathon </a:t>
            </a:r>
            <a:r>
              <a:rPr lang="fr-FR" b="1" dirty="0">
                <a:solidFill>
                  <a:schemeClr val="lt1"/>
                </a:solidFill>
              </a:rPr>
              <a:t>Morpion IA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20" name="Google Shape;220;p36"/>
          <p:cNvSpPr txBox="1">
            <a:spLocks noGrp="1"/>
          </p:cNvSpPr>
          <p:nvPr>
            <p:ph type="subTitle" idx="1"/>
          </p:nvPr>
        </p:nvSpPr>
        <p:spPr>
          <a:xfrm>
            <a:off x="1218125" y="3555800"/>
            <a:ext cx="6707700" cy="4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dirty="0"/>
              <a:t>Groupe More </a:t>
            </a:r>
            <a:r>
              <a:rPr lang="fr-FR" dirty="0" err="1"/>
              <a:t>Than</a:t>
            </a:r>
            <a:r>
              <a:rPr lang="fr-FR" dirty="0"/>
              <a:t> </a:t>
            </a:r>
            <a:r>
              <a:rPr lang="fr-FR" dirty="0" err="1"/>
              <a:t>Conqueror</a:t>
            </a:r>
            <a:r>
              <a:rPr lang="fr-FR" dirty="0"/>
              <a:t> • IGGLIA4 • ISPM Madagascar • Semestre 1</a:t>
            </a:r>
            <a:endParaRPr dirty="0"/>
          </a:p>
        </p:txBody>
      </p:sp>
      <p:grpSp>
        <p:nvGrpSpPr>
          <p:cNvPr id="221" name="Google Shape;221;p36"/>
          <p:cNvGrpSpPr/>
          <p:nvPr/>
        </p:nvGrpSpPr>
        <p:grpSpPr>
          <a:xfrm>
            <a:off x="1218125" y="3287188"/>
            <a:ext cx="6707700" cy="114300"/>
            <a:chOff x="1218125" y="3106700"/>
            <a:chExt cx="6707700" cy="114300"/>
          </a:xfrm>
        </p:grpSpPr>
        <p:sp>
          <p:nvSpPr>
            <p:cNvPr id="222" name="Google Shape;222;p36"/>
            <p:cNvSpPr/>
            <p:nvPr/>
          </p:nvSpPr>
          <p:spPr>
            <a:xfrm>
              <a:off x="1218125" y="3106700"/>
              <a:ext cx="65334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6"/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>
            <a:spLocks noGrp="1"/>
          </p:cNvSpPr>
          <p:nvPr>
            <p:ph type="title"/>
          </p:nvPr>
        </p:nvSpPr>
        <p:spPr>
          <a:xfrm>
            <a:off x="713150" y="540000"/>
            <a:ext cx="77178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</a:t>
            </a:r>
            <a:r>
              <a:rPr lang="en">
                <a:solidFill>
                  <a:schemeClr val="lt1"/>
                </a:solidFill>
              </a:rPr>
              <a:t>matières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1" name="Google Shape;241;p38"/>
          <p:cNvSpPr txBox="1">
            <a:spLocks noGrp="1"/>
          </p:cNvSpPr>
          <p:nvPr>
            <p:ph type="title" idx="2"/>
          </p:nvPr>
        </p:nvSpPr>
        <p:spPr>
          <a:xfrm>
            <a:off x="1720375" y="1582348"/>
            <a:ext cx="758400" cy="2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42" name="Google Shape;242;p38"/>
          <p:cNvSpPr txBox="1">
            <a:spLocks noGrp="1"/>
          </p:cNvSpPr>
          <p:nvPr>
            <p:ph type="subTitle" idx="5"/>
          </p:nvPr>
        </p:nvSpPr>
        <p:spPr>
          <a:xfrm>
            <a:off x="5849564" y="2251167"/>
            <a:ext cx="23823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Régression Logistique, analyse des coefficients</a:t>
            </a:r>
            <a:endParaRPr/>
          </a:p>
        </p:txBody>
      </p:sp>
      <p:sp>
        <p:nvSpPr>
          <p:cNvPr id="243" name="Google Shape;243;p38"/>
          <p:cNvSpPr txBox="1">
            <a:spLocks noGrp="1"/>
          </p:cNvSpPr>
          <p:nvPr>
            <p:ph type="title" idx="6"/>
          </p:nvPr>
        </p:nvSpPr>
        <p:spPr>
          <a:xfrm>
            <a:off x="6661552" y="1582348"/>
            <a:ext cx="758400" cy="2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44" name="Google Shape;244;p38"/>
          <p:cNvSpPr txBox="1">
            <a:spLocks noGrp="1"/>
          </p:cNvSpPr>
          <p:nvPr>
            <p:ph type="subTitle" idx="7"/>
          </p:nvPr>
        </p:nvSpPr>
        <p:spPr>
          <a:xfrm>
            <a:off x="906550" y="3736050"/>
            <a:ext cx="23823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Decision Tree, Random Forest, MLP, XGBoost</a:t>
            </a:r>
            <a:endParaRPr/>
          </a:p>
        </p:txBody>
      </p:sp>
      <p:sp>
        <p:nvSpPr>
          <p:cNvPr id="245" name="Google Shape;245;p38"/>
          <p:cNvSpPr txBox="1">
            <a:spLocks noGrp="1"/>
          </p:cNvSpPr>
          <p:nvPr>
            <p:ph type="title" idx="8"/>
          </p:nvPr>
        </p:nvSpPr>
        <p:spPr>
          <a:xfrm>
            <a:off x="1718550" y="3067257"/>
            <a:ext cx="758400" cy="2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46" name="Google Shape;246;p38"/>
          <p:cNvSpPr txBox="1">
            <a:spLocks noGrp="1"/>
          </p:cNvSpPr>
          <p:nvPr>
            <p:ph type="subTitle" idx="3"/>
          </p:nvPr>
        </p:nvSpPr>
        <p:spPr>
          <a:xfrm>
            <a:off x="3377302" y="2251142"/>
            <a:ext cx="23823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Encodage plateau, structure CSV, analyse EDA</a:t>
            </a:r>
            <a:endParaRPr/>
          </a:p>
        </p:txBody>
      </p:sp>
      <p:sp>
        <p:nvSpPr>
          <p:cNvPr id="247" name="Google Shape;247;p38"/>
          <p:cNvSpPr txBox="1">
            <a:spLocks noGrp="1"/>
          </p:cNvSpPr>
          <p:nvPr>
            <p:ph type="title" idx="4"/>
          </p:nvPr>
        </p:nvSpPr>
        <p:spPr>
          <a:xfrm>
            <a:off x="4189283" y="1582316"/>
            <a:ext cx="758400" cy="2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48" name="Google Shape;248;p38"/>
          <p:cNvSpPr txBox="1">
            <a:spLocks noGrp="1"/>
          </p:cNvSpPr>
          <p:nvPr>
            <p:ph type="subTitle" idx="1"/>
          </p:nvPr>
        </p:nvSpPr>
        <p:spPr>
          <a:xfrm>
            <a:off x="908374" y="2251133"/>
            <a:ext cx="23823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Génération du dataset, mission IA Morpion</a:t>
            </a:r>
            <a:endParaRPr/>
          </a:p>
        </p:txBody>
      </p:sp>
      <p:sp>
        <p:nvSpPr>
          <p:cNvPr id="249" name="Google Shape;249;p38"/>
          <p:cNvSpPr txBox="1">
            <a:spLocks noGrp="1"/>
          </p:cNvSpPr>
          <p:nvPr>
            <p:ph type="subTitle" idx="9"/>
          </p:nvPr>
        </p:nvSpPr>
        <p:spPr>
          <a:xfrm>
            <a:off x="908374" y="1964044"/>
            <a:ext cx="23823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contexte</a:t>
            </a:r>
            <a:endParaRPr/>
          </a:p>
        </p:txBody>
      </p:sp>
      <p:sp>
        <p:nvSpPr>
          <p:cNvPr id="250" name="Google Shape;250;p38"/>
          <p:cNvSpPr txBox="1">
            <a:spLocks noGrp="1"/>
          </p:cNvSpPr>
          <p:nvPr>
            <p:ph type="subTitle" idx="13"/>
          </p:nvPr>
        </p:nvSpPr>
        <p:spPr>
          <a:xfrm>
            <a:off x="3377252" y="1964044"/>
            <a:ext cx="23823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&amp; EDA</a:t>
            </a:r>
            <a:endParaRPr/>
          </a:p>
        </p:txBody>
      </p:sp>
      <p:sp>
        <p:nvSpPr>
          <p:cNvPr id="251" name="Google Shape;251;p38"/>
          <p:cNvSpPr txBox="1">
            <a:spLocks noGrp="1"/>
          </p:cNvSpPr>
          <p:nvPr>
            <p:ph type="subTitle" idx="14"/>
          </p:nvPr>
        </p:nvSpPr>
        <p:spPr>
          <a:xfrm>
            <a:off x="5849717" y="1964069"/>
            <a:ext cx="23823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ML</a:t>
            </a:r>
            <a:endParaRPr/>
          </a:p>
        </p:txBody>
      </p:sp>
      <p:sp>
        <p:nvSpPr>
          <p:cNvPr id="252" name="Google Shape;252;p38"/>
          <p:cNvSpPr txBox="1">
            <a:spLocks noGrp="1"/>
          </p:cNvSpPr>
          <p:nvPr>
            <p:ph type="subTitle" idx="15"/>
          </p:nvPr>
        </p:nvSpPr>
        <p:spPr>
          <a:xfrm>
            <a:off x="906664" y="3448951"/>
            <a:ext cx="23823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modèles avancés</a:t>
            </a:r>
            <a:endParaRPr/>
          </a:p>
        </p:txBody>
      </p:sp>
      <p:sp>
        <p:nvSpPr>
          <p:cNvPr id="253" name="Google Shape;253;p38"/>
          <p:cNvSpPr txBox="1">
            <a:spLocks noGrp="1"/>
          </p:cNvSpPr>
          <p:nvPr>
            <p:ph type="subTitle" idx="16"/>
          </p:nvPr>
        </p:nvSpPr>
        <p:spPr>
          <a:xfrm>
            <a:off x="3375527" y="3736098"/>
            <a:ext cx="23823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Modes vs Human, vs IA ML, vs IA Hybride</a:t>
            </a:r>
            <a:endParaRPr/>
          </a:p>
        </p:txBody>
      </p:sp>
      <p:sp>
        <p:nvSpPr>
          <p:cNvPr id="254" name="Google Shape;254;p38"/>
          <p:cNvSpPr txBox="1">
            <a:spLocks noGrp="1"/>
          </p:cNvSpPr>
          <p:nvPr>
            <p:ph type="title" idx="17"/>
          </p:nvPr>
        </p:nvSpPr>
        <p:spPr>
          <a:xfrm>
            <a:off x="4187500" y="3067274"/>
            <a:ext cx="758400" cy="2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55" name="Google Shape;255;p38"/>
          <p:cNvSpPr txBox="1">
            <a:spLocks noGrp="1"/>
          </p:cNvSpPr>
          <p:nvPr>
            <p:ph type="subTitle" idx="18"/>
          </p:nvPr>
        </p:nvSpPr>
        <p:spPr>
          <a:xfrm>
            <a:off x="5847789" y="3736123"/>
            <a:ext cx="23823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Q1–Q4, membres du groupe More Than Conqueror</a:t>
            </a:r>
            <a:endParaRPr/>
          </a:p>
        </p:txBody>
      </p:sp>
      <p:sp>
        <p:nvSpPr>
          <p:cNvPr id="256" name="Google Shape;256;p38"/>
          <p:cNvSpPr txBox="1">
            <a:spLocks noGrp="1"/>
          </p:cNvSpPr>
          <p:nvPr>
            <p:ph type="title" idx="19"/>
          </p:nvPr>
        </p:nvSpPr>
        <p:spPr>
          <a:xfrm>
            <a:off x="6659775" y="3067306"/>
            <a:ext cx="758400" cy="2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57" name="Google Shape;257;p38"/>
          <p:cNvSpPr txBox="1">
            <a:spLocks noGrp="1"/>
          </p:cNvSpPr>
          <p:nvPr>
            <p:ph type="subTitle" idx="20"/>
          </p:nvPr>
        </p:nvSpPr>
        <p:spPr>
          <a:xfrm>
            <a:off x="3375477" y="3449001"/>
            <a:ext cx="23823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interface jouable</a:t>
            </a:r>
            <a:endParaRPr/>
          </a:p>
        </p:txBody>
      </p:sp>
      <p:sp>
        <p:nvSpPr>
          <p:cNvPr id="258" name="Google Shape;258;p38"/>
          <p:cNvSpPr txBox="1">
            <a:spLocks noGrp="1"/>
          </p:cNvSpPr>
          <p:nvPr>
            <p:ph type="subTitle" idx="21"/>
          </p:nvPr>
        </p:nvSpPr>
        <p:spPr>
          <a:xfrm>
            <a:off x="5847942" y="3449026"/>
            <a:ext cx="23823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notre équipe</a:t>
            </a:r>
            <a:endParaRPr/>
          </a:p>
        </p:txBody>
      </p:sp>
      <p:grpSp>
        <p:nvGrpSpPr>
          <p:cNvPr id="259" name="Google Shape;259;p38"/>
          <p:cNvGrpSpPr/>
          <p:nvPr/>
        </p:nvGrpSpPr>
        <p:grpSpPr>
          <a:xfrm>
            <a:off x="713150" y="1090100"/>
            <a:ext cx="7717800" cy="114325"/>
            <a:chOff x="208025" y="3106700"/>
            <a:chExt cx="7717800" cy="114325"/>
          </a:xfrm>
        </p:grpSpPr>
        <p:sp>
          <p:nvSpPr>
            <p:cNvPr id="260" name="Google Shape;260;p38"/>
            <p:cNvSpPr/>
            <p:nvPr/>
          </p:nvSpPr>
          <p:spPr>
            <a:xfrm>
              <a:off x="208025" y="3106725"/>
              <a:ext cx="75435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8"/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>
            <a:spLocks noGrp="1"/>
          </p:cNvSpPr>
          <p:nvPr>
            <p:ph type="title"/>
          </p:nvPr>
        </p:nvSpPr>
        <p:spPr>
          <a:xfrm>
            <a:off x="4764075" y="2392025"/>
            <a:ext cx="2083500" cy="5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CONTEXTE</a:t>
            </a:r>
            <a:endParaRPr/>
          </a:p>
        </p:txBody>
      </p:sp>
      <p:sp>
        <p:nvSpPr>
          <p:cNvPr id="277" name="Google Shape;277;p40"/>
          <p:cNvSpPr txBox="1">
            <a:spLocks noGrp="1"/>
          </p:cNvSpPr>
          <p:nvPr>
            <p:ph type="body" idx="1"/>
          </p:nvPr>
        </p:nvSpPr>
        <p:spPr>
          <a:xfrm>
            <a:off x="4764075" y="3207300"/>
            <a:ext cx="2732100" cy="6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Mission &amp; Objectif du Hackathon</a:t>
            </a:r>
            <a:endParaRPr/>
          </a:p>
        </p:txBody>
      </p:sp>
      <p:sp>
        <p:nvSpPr>
          <p:cNvPr id="278" name="Google Shape;278;p40"/>
          <p:cNvSpPr txBox="1">
            <a:spLocks noGrp="1"/>
          </p:cNvSpPr>
          <p:nvPr>
            <p:ph type="title" idx="2"/>
          </p:nvPr>
        </p:nvSpPr>
        <p:spPr>
          <a:xfrm>
            <a:off x="4879875" y="1534825"/>
            <a:ext cx="1061400" cy="71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279" name="Google Shape;279;p40"/>
          <p:cNvGrpSpPr/>
          <p:nvPr/>
        </p:nvGrpSpPr>
        <p:grpSpPr>
          <a:xfrm>
            <a:off x="4879875" y="3023000"/>
            <a:ext cx="1708788" cy="114325"/>
            <a:chOff x="6217037" y="3106700"/>
            <a:chExt cx="1708788" cy="114325"/>
          </a:xfrm>
        </p:grpSpPr>
        <p:sp>
          <p:nvSpPr>
            <p:cNvPr id="280" name="Google Shape;280;p40"/>
            <p:cNvSpPr/>
            <p:nvPr/>
          </p:nvSpPr>
          <p:spPr>
            <a:xfrm>
              <a:off x="6217037" y="3106725"/>
              <a:ext cx="15345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0"/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2"/>
          <p:cNvSpPr txBox="1">
            <a:spLocks noGrp="1"/>
          </p:cNvSpPr>
          <p:nvPr>
            <p:ph type="title"/>
          </p:nvPr>
        </p:nvSpPr>
        <p:spPr>
          <a:xfrm>
            <a:off x="2195624" y="1734150"/>
            <a:ext cx="4752900" cy="55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Notre </a:t>
            </a:r>
            <a:r>
              <a:rPr lang="en">
                <a:solidFill>
                  <a:schemeClr val="lt1"/>
                </a:solidFill>
              </a:rPr>
              <a:t>Mission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1" name="Google Shape;301;p42"/>
          <p:cNvSpPr txBox="1">
            <a:spLocks noGrp="1"/>
          </p:cNvSpPr>
          <p:nvPr>
            <p:ph type="subTitle" idx="1"/>
          </p:nvPr>
        </p:nvSpPr>
        <p:spPr>
          <a:xfrm>
            <a:off x="2195425" y="2396600"/>
            <a:ext cx="47529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Nous sommes l’équipe R&amp;D More Than Conqueror, startup EdTech malgache. Mission : pipeline ML complet — génération des données, EDA, classification (x_wins &amp; is_draw), interface 3 modes jouable.</a:t>
            </a:r>
            <a:endParaRPr/>
          </a:p>
        </p:txBody>
      </p:sp>
      <p:grpSp>
        <p:nvGrpSpPr>
          <p:cNvPr id="302" name="Google Shape;302;p42"/>
          <p:cNvGrpSpPr/>
          <p:nvPr/>
        </p:nvGrpSpPr>
        <p:grpSpPr>
          <a:xfrm>
            <a:off x="3256200" y="2278725"/>
            <a:ext cx="2645325" cy="114325"/>
            <a:chOff x="5280500" y="3106700"/>
            <a:chExt cx="2645325" cy="114325"/>
          </a:xfrm>
        </p:grpSpPr>
        <p:sp>
          <p:nvSpPr>
            <p:cNvPr id="303" name="Google Shape;303;p42"/>
            <p:cNvSpPr/>
            <p:nvPr/>
          </p:nvSpPr>
          <p:spPr>
            <a:xfrm>
              <a:off x="5280500" y="3106725"/>
              <a:ext cx="24711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42"/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>
            <a:spLocks noGrp="1"/>
          </p:cNvSpPr>
          <p:nvPr>
            <p:ph type="title"/>
          </p:nvPr>
        </p:nvSpPr>
        <p:spPr>
          <a:xfrm>
            <a:off x="4764075" y="2392025"/>
            <a:ext cx="2083500" cy="5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277" name="Google Shape;277;p40"/>
          <p:cNvSpPr txBox="1">
            <a:spLocks noGrp="1"/>
          </p:cNvSpPr>
          <p:nvPr>
            <p:ph type="body" idx="1"/>
          </p:nvPr>
        </p:nvSpPr>
        <p:spPr>
          <a:xfrm>
            <a:off x="4764075" y="3207300"/>
            <a:ext cx="2732100" cy="6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Génération &amp; Encodage du Plateau</a:t>
            </a:r>
            <a:endParaRPr/>
          </a:p>
        </p:txBody>
      </p:sp>
      <p:sp>
        <p:nvSpPr>
          <p:cNvPr id="278" name="Google Shape;278;p40"/>
          <p:cNvSpPr txBox="1">
            <a:spLocks noGrp="1"/>
          </p:cNvSpPr>
          <p:nvPr>
            <p:ph type="title" idx="2"/>
          </p:nvPr>
        </p:nvSpPr>
        <p:spPr>
          <a:xfrm>
            <a:off x="4879875" y="1534825"/>
            <a:ext cx="1061400" cy="71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279" name="Google Shape;279;p40"/>
          <p:cNvGrpSpPr/>
          <p:nvPr/>
        </p:nvGrpSpPr>
        <p:grpSpPr>
          <a:xfrm>
            <a:off x="4879875" y="3023000"/>
            <a:ext cx="1708788" cy="114325"/>
            <a:chOff x="6217037" y="3106700"/>
            <a:chExt cx="1708788" cy="114325"/>
          </a:xfrm>
        </p:grpSpPr>
        <p:sp>
          <p:nvSpPr>
            <p:cNvPr id="280" name="Google Shape;280;p40"/>
            <p:cNvSpPr/>
            <p:nvPr/>
          </p:nvSpPr>
          <p:spPr>
            <a:xfrm>
              <a:off x="6217037" y="3106725"/>
              <a:ext cx="15345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0"/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 txBox="1">
            <a:spLocks noGrp="1"/>
          </p:cNvSpPr>
          <p:nvPr>
            <p:ph type="title"/>
          </p:nvPr>
        </p:nvSpPr>
        <p:spPr>
          <a:xfrm flipH="1"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Génération du </a:t>
            </a:r>
            <a:r>
              <a:rPr lang="en">
                <a:solidFill>
                  <a:schemeClr val="lt1"/>
                </a:solidFill>
              </a:rPr>
              <a:t>Dataset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7" name="Google Shape;287;p41"/>
          <p:cNvSpPr txBox="1">
            <a:spLocks noGrp="1"/>
          </p:cNvSpPr>
          <p:nvPr>
            <p:ph type="subTitle" idx="1"/>
          </p:nvPr>
        </p:nvSpPr>
        <p:spPr>
          <a:xfrm>
            <a:off x="768931" y="2828259"/>
            <a:ext cx="2708562" cy="933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fr-FR" dirty="0"/>
              <a:t>Algorithme Minimax + </a:t>
            </a:r>
            <a:r>
              <a:rPr lang="fr-FR" dirty="0" err="1"/>
              <a:t>AlphaBeta</a:t>
            </a:r>
            <a:r>
              <a:rPr lang="fr-FR" dirty="0"/>
              <a:t> pour labelliser chaque état : X gagne, O gagne ou Nulle — jeu parfait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8" name="Google Shape;288;p41"/>
          <p:cNvSpPr txBox="1">
            <a:spLocks noGrp="1"/>
          </p:cNvSpPr>
          <p:nvPr>
            <p:ph type="subTitle" idx="3"/>
          </p:nvPr>
        </p:nvSpPr>
        <p:spPr>
          <a:xfrm>
            <a:off x="3398676" y="2828258"/>
            <a:ext cx="2741146" cy="9886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18 features binaires : c0_x, c0_o … c8_x, c8_o.Chaque case = 2 colonnes (occupation X et O)</a:t>
            </a:r>
            <a:endParaRPr dirty="0"/>
          </a:p>
        </p:txBody>
      </p:sp>
      <p:sp>
        <p:nvSpPr>
          <p:cNvPr id="289" name="Google Shape;289;p41"/>
          <p:cNvSpPr txBox="1">
            <a:spLocks noGrp="1"/>
          </p:cNvSpPr>
          <p:nvPr>
            <p:ph type="subTitle" idx="2"/>
          </p:nvPr>
        </p:nvSpPr>
        <p:spPr>
          <a:xfrm>
            <a:off x="6139824" y="2828259"/>
            <a:ext cx="22218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Cibles : x_wins et is_draw. Export pandas → dataset.csv</a:t>
            </a:r>
            <a:endParaRPr dirty="0"/>
          </a:p>
        </p:txBody>
      </p:sp>
      <p:sp>
        <p:nvSpPr>
          <p:cNvPr id="290" name="Google Shape;290;p41"/>
          <p:cNvSpPr txBox="1">
            <a:spLocks noGrp="1"/>
          </p:cNvSpPr>
          <p:nvPr>
            <p:ph type="subTitle" idx="4"/>
          </p:nvPr>
        </p:nvSpPr>
        <p:spPr>
          <a:xfrm>
            <a:off x="886132" y="2443722"/>
            <a:ext cx="22218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MINIMAX</a:t>
            </a:r>
            <a:endParaRPr/>
          </a:p>
        </p:txBody>
      </p:sp>
      <p:sp>
        <p:nvSpPr>
          <p:cNvPr id="291" name="Google Shape;291;p41"/>
          <p:cNvSpPr txBox="1">
            <a:spLocks noGrp="1"/>
          </p:cNvSpPr>
          <p:nvPr>
            <p:ph type="subTitle" idx="5"/>
          </p:nvPr>
        </p:nvSpPr>
        <p:spPr>
          <a:xfrm>
            <a:off x="3537216" y="2443722"/>
            <a:ext cx="2248528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ENCODAGE</a:t>
            </a:r>
            <a:endParaRPr/>
          </a:p>
        </p:txBody>
      </p:sp>
      <p:sp>
        <p:nvSpPr>
          <p:cNvPr id="292" name="Google Shape;292;p41"/>
          <p:cNvSpPr txBox="1">
            <a:spLocks noGrp="1"/>
          </p:cNvSpPr>
          <p:nvPr>
            <p:ph type="subTitle" idx="6"/>
          </p:nvPr>
        </p:nvSpPr>
        <p:spPr>
          <a:xfrm>
            <a:off x="6139826" y="2443722"/>
            <a:ext cx="22218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STRUCTURE</a:t>
            </a:r>
            <a:endParaRPr dirty="0"/>
          </a:p>
        </p:txBody>
      </p:sp>
      <p:grpSp>
        <p:nvGrpSpPr>
          <p:cNvPr id="293" name="Google Shape;293;p41"/>
          <p:cNvGrpSpPr/>
          <p:nvPr/>
        </p:nvGrpSpPr>
        <p:grpSpPr>
          <a:xfrm>
            <a:off x="713150" y="1090100"/>
            <a:ext cx="7717800" cy="114325"/>
            <a:chOff x="208025" y="3106700"/>
            <a:chExt cx="7717800" cy="114325"/>
          </a:xfrm>
        </p:grpSpPr>
        <p:sp>
          <p:nvSpPr>
            <p:cNvPr id="294" name="Google Shape;294;p41"/>
            <p:cNvSpPr/>
            <p:nvPr/>
          </p:nvSpPr>
          <p:spPr>
            <a:xfrm>
              <a:off x="208025" y="3106725"/>
              <a:ext cx="75435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41"/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>
            <a:spLocks noGrp="1"/>
          </p:cNvSpPr>
          <p:nvPr>
            <p:ph type="title"/>
          </p:nvPr>
        </p:nvSpPr>
        <p:spPr>
          <a:xfrm>
            <a:off x="4764075" y="2392025"/>
            <a:ext cx="2083500" cy="5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</p:txBody>
      </p:sp>
      <p:sp>
        <p:nvSpPr>
          <p:cNvPr id="277" name="Google Shape;277;p40"/>
          <p:cNvSpPr txBox="1">
            <a:spLocks noGrp="1"/>
          </p:cNvSpPr>
          <p:nvPr>
            <p:ph type="body" idx="1"/>
          </p:nvPr>
        </p:nvSpPr>
        <p:spPr>
          <a:xfrm>
            <a:off x="4764075" y="3207300"/>
            <a:ext cx="2732100" cy="6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Analyse Exploratoire des Données</a:t>
            </a:r>
            <a:endParaRPr/>
          </a:p>
        </p:txBody>
      </p:sp>
      <p:sp>
        <p:nvSpPr>
          <p:cNvPr id="278" name="Google Shape;278;p40"/>
          <p:cNvSpPr txBox="1">
            <a:spLocks noGrp="1"/>
          </p:cNvSpPr>
          <p:nvPr>
            <p:ph type="title" idx="2"/>
          </p:nvPr>
        </p:nvSpPr>
        <p:spPr>
          <a:xfrm>
            <a:off x="4879875" y="1534825"/>
            <a:ext cx="1061400" cy="71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279" name="Google Shape;279;p40"/>
          <p:cNvGrpSpPr/>
          <p:nvPr/>
        </p:nvGrpSpPr>
        <p:grpSpPr>
          <a:xfrm>
            <a:off x="4879875" y="3023000"/>
            <a:ext cx="1708788" cy="114325"/>
            <a:chOff x="6217037" y="3106700"/>
            <a:chExt cx="1708788" cy="114325"/>
          </a:xfrm>
        </p:grpSpPr>
        <p:sp>
          <p:nvSpPr>
            <p:cNvPr id="280" name="Google Shape;280;p40"/>
            <p:cNvSpPr/>
            <p:nvPr/>
          </p:nvSpPr>
          <p:spPr>
            <a:xfrm>
              <a:off x="6217037" y="3106725"/>
              <a:ext cx="15345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0"/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solidFill>
            <a:srgbClr val="000000">
              <a:alpha val="675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Résultats </a:t>
            </a:r>
            <a:r>
              <a:rPr lang="en">
                <a:solidFill>
                  <a:schemeClr val="lt1"/>
                </a:solidFill>
              </a:rPr>
              <a:t>EDA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6" name="Google Shape;396;p51"/>
          <p:cNvSpPr txBox="1">
            <a:spLocks noGrp="1"/>
          </p:cNvSpPr>
          <p:nvPr>
            <p:ph type="subTitle" idx="1"/>
          </p:nvPr>
        </p:nvSpPr>
        <p:spPr>
          <a:xfrm>
            <a:off x="1430086" y="2381137"/>
            <a:ext cx="25683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b="1"/>
              <a:t>Distribution des cibles</a:t>
            </a:r>
            <a:endParaRPr/>
          </a:p>
        </p:txBody>
      </p:sp>
      <p:sp>
        <p:nvSpPr>
          <p:cNvPr id="397" name="Google Shape;397;p51"/>
          <p:cNvSpPr txBox="1">
            <a:spLocks noGrp="1"/>
          </p:cNvSpPr>
          <p:nvPr>
            <p:ph type="subTitle" idx="2"/>
          </p:nvPr>
        </p:nvSpPr>
        <p:spPr>
          <a:xfrm>
            <a:off x="5145829" y="2381137"/>
            <a:ext cx="25680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x_wins ≈ 58% positifs, is_draw ≈ 29% — dataset modérément déséquilibré</a:t>
            </a:r>
            <a:endParaRPr/>
          </a:p>
        </p:txBody>
      </p:sp>
      <p:sp>
        <p:nvSpPr>
          <p:cNvPr id="398" name="Google Shape;398;p51"/>
          <p:cNvSpPr txBox="1">
            <a:spLocks noGrp="1"/>
          </p:cNvSpPr>
          <p:nvPr>
            <p:ph type="subTitle" idx="3"/>
          </p:nvPr>
        </p:nvSpPr>
        <p:spPr>
          <a:xfrm>
            <a:off x="1429975" y="3674550"/>
            <a:ext cx="25683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Case 4 (centre) : la plus fréquemment occupéedans les états où X gagne</a:t>
            </a:r>
            <a:endParaRPr dirty="0"/>
          </a:p>
        </p:txBody>
      </p:sp>
      <p:sp>
        <p:nvSpPr>
          <p:cNvPr id="399" name="Google Shape;399;p51"/>
          <p:cNvSpPr txBox="1">
            <a:spLocks noGrp="1"/>
          </p:cNvSpPr>
          <p:nvPr>
            <p:ph type="subTitle" idx="4"/>
          </p:nvPr>
        </p:nvSpPr>
        <p:spPr>
          <a:xfrm>
            <a:off x="5145675" y="3674548"/>
            <a:ext cx="25680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Heatmap : cases centrales et coins ont la plus forte corrélation avec x_wins</a:t>
            </a:r>
            <a:endParaRPr dirty="0"/>
          </a:p>
        </p:txBody>
      </p:sp>
      <p:sp>
        <p:nvSpPr>
          <p:cNvPr id="400" name="Google Shape;400;p51"/>
          <p:cNvSpPr txBox="1">
            <a:spLocks noGrp="1"/>
          </p:cNvSpPr>
          <p:nvPr>
            <p:ph type="subTitle" idx="5"/>
          </p:nvPr>
        </p:nvSpPr>
        <p:spPr>
          <a:xfrm>
            <a:off x="1430075" y="1950675"/>
            <a:ext cx="2568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1" name="Google Shape;401;p51"/>
          <p:cNvSpPr txBox="1">
            <a:spLocks noGrp="1"/>
          </p:cNvSpPr>
          <p:nvPr>
            <p:ph type="subTitle" idx="6"/>
          </p:nvPr>
        </p:nvSpPr>
        <p:spPr>
          <a:xfrm>
            <a:off x="5145425" y="1950675"/>
            <a:ext cx="2568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Déséquilibre de classes</a:t>
            </a:r>
            <a:endParaRPr/>
          </a:p>
        </p:txBody>
      </p:sp>
      <p:sp>
        <p:nvSpPr>
          <p:cNvPr id="402" name="Google Shape;402;p51"/>
          <p:cNvSpPr txBox="1">
            <a:spLocks noGrp="1"/>
          </p:cNvSpPr>
          <p:nvPr>
            <p:ph type="subTitle" idx="7"/>
          </p:nvPr>
        </p:nvSpPr>
        <p:spPr>
          <a:xfrm>
            <a:off x="1430075" y="3231017"/>
            <a:ext cx="2568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Case la plus occupée</a:t>
            </a:r>
            <a:endParaRPr dirty="0"/>
          </a:p>
        </p:txBody>
      </p:sp>
      <p:sp>
        <p:nvSpPr>
          <p:cNvPr id="403" name="Google Shape;403;p51"/>
          <p:cNvSpPr txBox="1">
            <a:spLocks noGrp="1"/>
          </p:cNvSpPr>
          <p:nvPr>
            <p:ph type="subTitle" idx="8"/>
          </p:nvPr>
        </p:nvSpPr>
        <p:spPr>
          <a:xfrm>
            <a:off x="5145425" y="3231017"/>
            <a:ext cx="2568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Corrélation features</a:t>
            </a:r>
            <a:endParaRPr/>
          </a:p>
        </p:txBody>
      </p:sp>
      <p:grpSp>
        <p:nvGrpSpPr>
          <p:cNvPr id="404" name="Google Shape;404;p51"/>
          <p:cNvGrpSpPr/>
          <p:nvPr/>
        </p:nvGrpSpPr>
        <p:grpSpPr>
          <a:xfrm>
            <a:off x="713150" y="1090100"/>
            <a:ext cx="7717800" cy="114325"/>
            <a:chOff x="208025" y="3106700"/>
            <a:chExt cx="7717800" cy="114325"/>
          </a:xfrm>
        </p:grpSpPr>
        <p:sp>
          <p:nvSpPr>
            <p:cNvPr id="405" name="Google Shape;405;p51"/>
            <p:cNvSpPr/>
            <p:nvPr/>
          </p:nvSpPr>
          <p:spPr>
            <a:xfrm>
              <a:off x="208025" y="3106725"/>
              <a:ext cx="75435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1"/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>
            <a:spLocks noGrp="1"/>
          </p:cNvSpPr>
          <p:nvPr>
            <p:ph type="title"/>
          </p:nvPr>
        </p:nvSpPr>
        <p:spPr>
          <a:xfrm>
            <a:off x="4764075" y="2392025"/>
            <a:ext cx="2083500" cy="5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MODÈLES ML</a:t>
            </a:r>
            <a:endParaRPr/>
          </a:p>
        </p:txBody>
      </p:sp>
      <p:sp>
        <p:nvSpPr>
          <p:cNvPr id="277" name="Google Shape;277;p40"/>
          <p:cNvSpPr txBox="1">
            <a:spLocks noGrp="1"/>
          </p:cNvSpPr>
          <p:nvPr>
            <p:ph type="body" idx="1"/>
          </p:nvPr>
        </p:nvSpPr>
        <p:spPr>
          <a:xfrm>
            <a:off x="4764075" y="3207300"/>
            <a:ext cx="2732100" cy="6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Baseline &amp; Modèles Avancés</a:t>
            </a:r>
            <a:endParaRPr/>
          </a:p>
        </p:txBody>
      </p:sp>
      <p:sp>
        <p:nvSpPr>
          <p:cNvPr id="278" name="Google Shape;278;p40"/>
          <p:cNvSpPr txBox="1">
            <a:spLocks noGrp="1"/>
          </p:cNvSpPr>
          <p:nvPr>
            <p:ph type="title" idx="2"/>
          </p:nvPr>
        </p:nvSpPr>
        <p:spPr>
          <a:xfrm>
            <a:off x="4879875" y="1534825"/>
            <a:ext cx="1061400" cy="71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279" name="Google Shape;279;p40"/>
          <p:cNvGrpSpPr/>
          <p:nvPr/>
        </p:nvGrpSpPr>
        <p:grpSpPr>
          <a:xfrm>
            <a:off x="4879875" y="3023000"/>
            <a:ext cx="1708788" cy="114325"/>
            <a:chOff x="6217037" y="3106700"/>
            <a:chExt cx="1708788" cy="114325"/>
          </a:xfrm>
        </p:grpSpPr>
        <p:sp>
          <p:nvSpPr>
            <p:cNvPr id="280" name="Google Shape;280;p40"/>
            <p:cNvSpPr/>
            <p:nvPr/>
          </p:nvSpPr>
          <p:spPr>
            <a:xfrm>
              <a:off x="6217037" y="3106725"/>
              <a:ext cx="15345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0"/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solidFill>
            <a:srgbClr val="000000">
              <a:alpha val="675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Résultats </a:t>
            </a:r>
            <a:r>
              <a:rPr lang="en">
                <a:solidFill>
                  <a:schemeClr val="lt1"/>
                </a:solidFill>
              </a:rPr>
              <a:t>Baseline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1" name="Google Shape;421;p53"/>
          <p:cNvSpPr txBox="1"/>
          <p:nvPr/>
        </p:nvSpPr>
        <p:spPr>
          <a:xfrm>
            <a:off x="724200" y="4303275"/>
            <a:ext cx="7704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Entraînement : 80% des états valides | Test : 20% | Deux modèles indépendants.</a:t>
            </a:r>
            <a:endParaRPr sz="10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22" name="Google Shape;422;p53"/>
          <p:cNvSpPr txBox="1"/>
          <p:nvPr/>
        </p:nvSpPr>
        <p:spPr>
          <a:xfrm>
            <a:off x="5374676" y="1725500"/>
            <a:ext cx="22959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F1 : 0.87 | AUC : 0.91 | Matrice de confusion bien équilibrée</a:t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23" name="Google Shape;423;p53"/>
          <p:cNvSpPr txBox="1"/>
          <p:nvPr/>
        </p:nvSpPr>
        <p:spPr>
          <a:xfrm>
            <a:off x="5374676" y="1397050"/>
            <a:ext cx="22959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rPr>
              <a:t>x_wins : 85%</a:t>
            </a:r>
            <a:endParaRPr sz="2400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424" name="Google Shape;424;p53"/>
          <p:cNvSpPr txBox="1"/>
          <p:nvPr/>
        </p:nvSpPr>
        <p:spPr>
          <a:xfrm>
            <a:off x="5374676" y="2425301"/>
            <a:ext cx="22959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rPr>
              <a:t>is_draw : 78%</a:t>
            </a:r>
            <a:endParaRPr sz="2400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425" name="Google Shape;425;p53"/>
          <p:cNvSpPr txBox="1"/>
          <p:nvPr/>
        </p:nvSpPr>
        <p:spPr>
          <a:xfrm>
            <a:off x="5374676" y="2753757"/>
            <a:ext cx="22959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F1 : 0.72 | AUC : 0.83 |</a:t>
            </a:r>
            <a:b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Classe rare — plus difficile</a:t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26" name="Google Shape;426;p53"/>
          <p:cNvSpPr txBox="1"/>
          <p:nvPr/>
        </p:nvSpPr>
        <p:spPr>
          <a:xfrm>
            <a:off x="5374676" y="3453551"/>
            <a:ext cx="22959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rPr>
              <a:t>Plus difficile</a:t>
            </a:r>
            <a:endParaRPr sz="2400">
              <a:solidFill>
                <a:schemeClr val="dk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427" name="Google Shape;427;p53"/>
          <p:cNvSpPr txBox="1"/>
          <p:nvPr/>
        </p:nvSpPr>
        <p:spPr>
          <a:xfrm>
            <a:off x="5374676" y="3782000"/>
            <a:ext cx="22959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is_draw : positions nulles plus ambiguës — moins de signal clair pour le modèle</a:t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428" name="Google Shape;428;p53"/>
          <p:cNvGrpSpPr/>
          <p:nvPr/>
        </p:nvGrpSpPr>
        <p:grpSpPr>
          <a:xfrm>
            <a:off x="713150" y="1090100"/>
            <a:ext cx="7717800" cy="114325"/>
            <a:chOff x="208025" y="3106700"/>
            <a:chExt cx="7717800" cy="114325"/>
          </a:xfrm>
        </p:grpSpPr>
        <p:sp>
          <p:nvSpPr>
            <p:cNvPr id="429" name="Google Shape;429;p53"/>
            <p:cNvSpPr/>
            <p:nvPr/>
          </p:nvSpPr>
          <p:spPr>
            <a:xfrm>
              <a:off x="208025" y="3106725"/>
              <a:ext cx="75435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53"/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1" name="Google Shape;431;p53"/>
          <p:cNvSpPr/>
          <p:nvPr/>
        </p:nvSpPr>
        <p:spPr>
          <a:xfrm>
            <a:off x="7772775" y="2587875"/>
            <a:ext cx="340500" cy="3405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53"/>
          <p:cNvSpPr/>
          <p:nvPr/>
        </p:nvSpPr>
        <p:spPr>
          <a:xfrm>
            <a:off x="7772775" y="1556850"/>
            <a:ext cx="340500" cy="340500"/>
          </a:xfrm>
          <a:prstGeom prst="ellipse">
            <a:avLst/>
          </a:prstGeom>
          <a:gradFill>
            <a:gsLst>
              <a:gs pos="0">
                <a:schemeClr val="lt2"/>
              </a:gs>
              <a:gs pos="17000">
                <a:srgbClr val="00ADEE">
                  <a:alpha val="53725"/>
                </a:srgbClr>
              </a:gs>
              <a:gs pos="100000">
                <a:srgbClr val="00ADE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53"/>
          <p:cNvSpPr/>
          <p:nvPr/>
        </p:nvSpPr>
        <p:spPr>
          <a:xfrm>
            <a:off x="7772775" y="3618900"/>
            <a:ext cx="340500" cy="340500"/>
          </a:xfrm>
          <a:prstGeom prst="ellipse">
            <a:avLst/>
          </a:prstGeom>
          <a:gradFill>
            <a:gsLst>
              <a:gs pos="0">
                <a:schemeClr val="lt1"/>
              </a:gs>
              <a:gs pos="24000">
                <a:srgbClr val="EB008B">
                  <a:alpha val="61960"/>
                </a:srgbClr>
              </a:gs>
              <a:gs pos="100000">
                <a:srgbClr val="EB008B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4" name="Google Shape;434;p53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18792" r="18085"/>
          <a:stretch/>
        </p:blipFill>
        <p:spPr>
          <a:xfrm>
            <a:off x="1402925" y="1482875"/>
            <a:ext cx="2779776" cy="272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Comparaison des </a:t>
            </a:r>
            <a:r>
              <a:rPr lang="en">
                <a:solidFill>
                  <a:schemeClr val="lt1"/>
                </a:solidFill>
              </a:rPr>
              <a:t>Modèles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0" name="Google Shape;580;p60"/>
          <p:cNvSpPr txBox="1">
            <a:spLocks noGrp="1"/>
          </p:cNvSpPr>
          <p:nvPr>
            <p:ph type="subTitle" idx="1"/>
          </p:nvPr>
        </p:nvSpPr>
        <p:spPr>
          <a:xfrm>
            <a:off x="790625" y="2384250"/>
            <a:ext cx="25209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— x_wins: 85%, is_draw: 78%</a:t>
            </a:r>
            <a:endParaRPr/>
          </a:p>
        </p:txBody>
      </p:sp>
      <p:sp>
        <p:nvSpPr>
          <p:cNvPr id="581" name="Google Shape;581;p60"/>
          <p:cNvSpPr txBox="1">
            <a:spLocks noGrp="1"/>
          </p:cNvSpPr>
          <p:nvPr>
            <p:ph type="subTitle" idx="2"/>
          </p:nvPr>
        </p:nvSpPr>
        <p:spPr>
          <a:xfrm>
            <a:off x="3311521" y="2384250"/>
            <a:ext cx="25209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Interprétable — x_wins: 88%, is_draw: 81%</a:t>
            </a:r>
            <a:endParaRPr/>
          </a:p>
        </p:txBody>
      </p:sp>
      <p:sp>
        <p:nvSpPr>
          <p:cNvPr id="582" name="Google Shape;582;p60"/>
          <p:cNvSpPr txBox="1">
            <a:spLocks noGrp="1"/>
          </p:cNvSpPr>
          <p:nvPr>
            <p:ph type="subTitle" idx="3"/>
          </p:nvPr>
        </p:nvSpPr>
        <p:spPr>
          <a:xfrm>
            <a:off x="5832418" y="2384250"/>
            <a:ext cx="25209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Robuste — x_wins: 92%, is_draw: 87%</a:t>
            </a:r>
            <a:endParaRPr/>
          </a:p>
        </p:txBody>
      </p:sp>
      <p:sp>
        <p:nvSpPr>
          <p:cNvPr id="583" name="Google Shape;583;p60"/>
          <p:cNvSpPr txBox="1">
            <a:spLocks noGrp="1"/>
          </p:cNvSpPr>
          <p:nvPr>
            <p:ph type="subTitle" idx="4"/>
          </p:nvPr>
        </p:nvSpPr>
        <p:spPr>
          <a:xfrm>
            <a:off x="790625" y="3773176"/>
            <a:ext cx="25209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Performant — x_wins: 93%,is_draw: 89%</a:t>
            </a:r>
            <a:endParaRPr/>
          </a:p>
        </p:txBody>
      </p:sp>
      <p:sp>
        <p:nvSpPr>
          <p:cNvPr id="584" name="Google Shape;584;p60"/>
          <p:cNvSpPr txBox="1">
            <a:spLocks noGrp="1"/>
          </p:cNvSpPr>
          <p:nvPr>
            <p:ph type="subTitle" idx="5"/>
          </p:nvPr>
        </p:nvSpPr>
        <p:spPr>
          <a:xfrm>
            <a:off x="3311521" y="3773176"/>
            <a:ext cx="25209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Flexible — x_wins: 91%, is_draw: 88%</a:t>
            </a:r>
            <a:endParaRPr/>
          </a:p>
        </p:txBody>
      </p:sp>
      <p:sp>
        <p:nvSpPr>
          <p:cNvPr id="585" name="Google Shape;585;p60"/>
          <p:cNvSpPr txBox="1">
            <a:spLocks noGrp="1"/>
          </p:cNvSpPr>
          <p:nvPr>
            <p:ph type="subTitle" idx="6"/>
          </p:nvPr>
        </p:nvSpPr>
        <p:spPr>
          <a:xfrm>
            <a:off x="5832418" y="3773176"/>
            <a:ext cx="25209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🏆 Meilleur — x_wins: 95%, is_draw: 91%</a:t>
            </a:r>
            <a:endParaRPr/>
          </a:p>
        </p:txBody>
      </p:sp>
      <p:sp>
        <p:nvSpPr>
          <p:cNvPr id="586" name="Google Shape;586;p60"/>
          <p:cNvSpPr txBox="1">
            <a:spLocks noGrp="1"/>
          </p:cNvSpPr>
          <p:nvPr>
            <p:ph type="subTitle" idx="7"/>
          </p:nvPr>
        </p:nvSpPr>
        <p:spPr>
          <a:xfrm>
            <a:off x="790625" y="1991450"/>
            <a:ext cx="2520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Régr. Logistique</a:t>
            </a:r>
            <a:endParaRPr/>
          </a:p>
        </p:txBody>
      </p:sp>
      <p:sp>
        <p:nvSpPr>
          <p:cNvPr id="587" name="Google Shape;587;p60"/>
          <p:cNvSpPr txBox="1">
            <a:spLocks noGrp="1"/>
          </p:cNvSpPr>
          <p:nvPr>
            <p:ph type="subTitle" idx="8"/>
          </p:nvPr>
        </p:nvSpPr>
        <p:spPr>
          <a:xfrm>
            <a:off x="3311527" y="1991450"/>
            <a:ext cx="2520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</a:t>
            </a:r>
            <a:endParaRPr/>
          </a:p>
        </p:txBody>
      </p:sp>
      <p:sp>
        <p:nvSpPr>
          <p:cNvPr id="588" name="Google Shape;588;p60"/>
          <p:cNvSpPr txBox="1">
            <a:spLocks noGrp="1"/>
          </p:cNvSpPr>
          <p:nvPr>
            <p:ph type="subTitle" idx="9"/>
          </p:nvPr>
        </p:nvSpPr>
        <p:spPr>
          <a:xfrm>
            <a:off x="5832445" y="1991450"/>
            <a:ext cx="2520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</a:t>
            </a:r>
            <a:endParaRPr/>
          </a:p>
        </p:txBody>
      </p:sp>
      <p:sp>
        <p:nvSpPr>
          <p:cNvPr id="589" name="Google Shape;589;p60"/>
          <p:cNvSpPr txBox="1">
            <a:spLocks noGrp="1"/>
          </p:cNvSpPr>
          <p:nvPr>
            <p:ph type="subTitle" idx="13"/>
          </p:nvPr>
        </p:nvSpPr>
        <p:spPr>
          <a:xfrm>
            <a:off x="790625" y="3375722"/>
            <a:ext cx="2520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Boosting</a:t>
            </a:r>
            <a:endParaRPr/>
          </a:p>
        </p:txBody>
      </p:sp>
      <p:sp>
        <p:nvSpPr>
          <p:cNvPr id="590" name="Google Shape;590;p60"/>
          <p:cNvSpPr txBox="1">
            <a:spLocks noGrp="1"/>
          </p:cNvSpPr>
          <p:nvPr>
            <p:ph type="subTitle" idx="14"/>
          </p:nvPr>
        </p:nvSpPr>
        <p:spPr>
          <a:xfrm>
            <a:off x="3311527" y="3375722"/>
            <a:ext cx="2520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MLP (Réseau Neurones)</a:t>
            </a:r>
            <a:endParaRPr/>
          </a:p>
        </p:txBody>
      </p:sp>
      <p:sp>
        <p:nvSpPr>
          <p:cNvPr id="591" name="Google Shape;591;p60"/>
          <p:cNvSpPr txBox="1">
            <a:spLocks noGrp="1"/>
          </p:cNvSpPr>
          <p:nvPr>
            <p:ph type="subTitle" idx="15"/>
          </p:nvPr>
        </p:nvSpPr>
        <p:spPr>
          <a:xfrm>
            <a:off x="5832445" y="3375722"/>
            <a:ext cx="2520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grpSp>
        <p:nvGrpSpPr>
          <p:cNvPr id="592" name="Google Shape;592;p60"/>
          <p:cNvGrpSpPr/>
          <p:nvPr/>
        </p:nvGrpSpPr>
        <p:grpSpPr>
          <a:xfrm>
            <a:off x="713150" y="1090100"/>
            <a:ext cx="7717800" cy="114325"/>
            <a:chOff x="208025" y="3106700"/>
            <a:chExt cx="7717800" cy="114325"/>
          </a:xfrm>
        </p:grpSpPr>
        <p:sp>
          <p:nvSpPr>
            <p:cNvPr id="593" name="Google Shape;593;p60"/>
            <p:cNvSpPr/>
            <p:nvPr/>
          </p:nvSpPr>
          <p:spPr>
            <a:xfrm>
              <a:off x="208025" y="3106725"/>
              <a:ext cx="75435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60"/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>
            <a:spLocks noGrp="1"/>
          </p:cNvSpPr>
          <p:nvPr>
            <p:ph type="title"/>
          </p:nvPr>
        </p:nvSpPr>
        <p:spPr>
          <a:xfrm>
            <a:off x="4764075" y="2392025"/>
            <a:ext cx="2083500" cy="5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INTERFACE</a:t>
            </a:r>
            <a:endParaRPr/>
          </a:p>
        </p:txBody>
      </p:sp>
      <p:sp>
        <p:nvSpPr>
          <p:cNvPr id="277" name="Google Shape;277;p40"/>
          <p:cNvSpPr txBox="1">
            <a:spLocks noGrp="1"/>
          </p:cNvSpPr>
          <p:nvPr>
            <p:ph type="body" idx="1"/>
          </p:nvPr>
        </p:nvSpPr>
        <p:spPr>
          <a:xfrm>
            <a:off x="4764075" y="3207300"/>
            <a:ext cx="2732100" cy="6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Interface Jouable — 3 Modes</a:t>
            </a:r>
            <a:endParaRPr/>
          </a:p>
        </p:txBody>
      </p:sp>
      <p:sp>
        <p:nvSpPr>
          <p:cNvPr id="278" name="Google Shape;278;p40"/>
          <p:cNvSpPr txBox="1">
            <a:spLocks noGrp="1"/>
          </p:cNvSpPr>
          <p:nvPr>
            <p:ph type="title" idx="2"/>
          </p:nvPr>
        </p:nvSpPr>
        <p:spPr>
          <a:xfrm>
            <a:off x="4879875" y="1534825"/>
            <a:ext cx="1061400" cy="71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279" name="Google Shape;279;p40"/>
          <p:cNvGrpSpPr/>
          <p:nvPr/>
        </p:nvGrpSpPr>
        <p:grpSpPr>
          <a:xfrm>
            <a:off x="4879875" y="3023000"/>
            <a:ext cx="1708788" cy="114325"/>
            <a:chOff x="6217037" y="3106700"/>
            <a:chExt cx="1708788" cy="114325"/>
          </a:xfrm>
        </p:grpSpPr>
        <p:sp>
          <p:nvSpPr>
            <p:cNvPr id="280" name="Google Shape;280;p40"/>
            <p:cNvSpPr/>
            <p:nvPr/>
          </p:nvSpPr>
          <p:spPr>
            <a:xfrm>
              <a:off x="6217037" y="3106725"/>
              <a:ext cx="15345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0"/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 txBox="1">
            <a:spLocks noGrp="1"/>
          </p:cNvSpPr>
          <p:nvPr>
            <p:ph type="title"/>
          </p:nvPr>
        </p:nvSpPr>
        <p:spPr>
          <a:xfrm flipH="1"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Interface Jouable — </a:t>
            </a:r>
            <a:r>
              <a:rPr lang="en">
                <a:solidFill>
                  <a:schemeClr val="lt1"/>
                </a:solidFill>
              </a:rPr>
              <a:t>3 Modes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87" name="Google Shape;287;p41"/>
          <p:cNvSpPr txBox="1">
            <a:spLocks noGrp="1"/>
          </p:cNvSpPr>
          <p:nvPr>
            <p:ph type="subTitle" idx="1"/>
          </p:nvPr>
        </p:nvSpPr>
        <p:spPr>
          <a:xfrm>
            <a:off x="948475" y="2883675"/>
            <a:ext cx="22218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Deux joueurs humains s'affrontent sur le plateau 3×3. Tour par tour, saisie interactive.</a:t>
            </a:r>
            <a:endParaRPr/>
          </a:p>
        </p:txBody>
      </p:sp>
      <p:sp>
        <p:nvSpPr>
          <p:cNvPr id="288" name="Google Shape;288;p41"/>
          <p:cNvSpPr txBox="1">
            <a:spLocks noGrp="1"/>
          </p:cNvSpPr>
          <p:nvPr>
            <p:ph type="subTitle" idx="3"/>
          </p:nvPr>
        </p:nvSpPr>
        <p:spPr>
          <a:xfrm>
            <a:off x="3461019" y="2883675"/>
            <a:ext cx="22218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L'IA utilise nos modèles ML pour évaluer chaque positionet choisir son coup optimal. (x_wins &amp; is_draw)</a:t>
            </a:r>
            <a:endParaRPr/>
          </a:p>
        </p:txBody>
      </p:sp>
      <p:sp>
        <p:nvSpPr>
          <p:cNvPr id="289" name="Google Shape;289;p41"/>
          <p:cNvSpPr txBox="1">
            <a:spLocks noGrp="1"/>
          </p:cNvSpPr>
          <p:nvPr>
            <p:ph type="subTitle" idx="2"/>
          </p:nvPr>
        </p:nvSpPr>
        <p:spPr>
          <a:xfrm>
            <a:off x="5973575" y="2883675"/>
            <a:ext cx="22218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Minimax-AlphaBeta profondeur 3, puis ML comme évaluateur des feuilles.</a:t>
            </a:r>
            <a:endParaRPr/>
          </a:p>
        </p:txBody>
      </p:sp>
      <p:sp>
        <p:nvSpPr>
          <p:cNvPr id="290" name="Google Shape;290;p41"/>
          <p:cNvSpPr txBox="1">
            <a:spLocks noGrp="1"/>
          </p:cNvSpPr>
          <p:nvPr>
            <p:ph type="subTitle" idx="4"/>
          </p:nvPr>
        </p:nvSpPr>
        <p:spPr>
          <a:xfrm>
            <a:off x="948475" y="2533775"/>
            <a:ext cx="22218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 HUMAN</a:t>
            </a:r>
            <a:endParaRPr/>
          </a:p>
        </p:txBody>
      </p:sp>
      <p:sp>
        <p:nvSpPr>
          <p:cNvPr id="291" name="Google Shape;291;p41"/>
          <p:cNvSpPr txBox="1">
            <a:spLocks noGrp="1"/>
          </p:cNvSpPr>
          <p:nvPr>
            <p:ph type="subTitle" idx="5"/>
          </p:nvPr>
        </p:nvSpPr>
        <p:spPr>
          <a:xfrm>
            <a:off x="3461019" y="2533775"/>
            <a:ext cx="22218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vs IA (ML)</a:t>
            </a:r>
            <a:endParaRPr/>
          </a:p>
        </p:txBody>
      </p:sp>
      <p:sp>
        <p:nvSpPr>
          <p:cNvPr id="292" name="Google Shape;292;p41"/>
          <p:cNvSpPr txBox="1">
            <a:spLocks noGrp="1"/>
          </p:cNvSpPr>
          <p:nvPr>
            <p:ph type="subTitle" idx="6"/>
          </p:nvPr>
        </p:nvSpPr>
        <p:spPr>
          <a:xfrm>
            <a:off x="5973577" y="2533775"/>
            <a:ext cx="22218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 IA (HYBRIDE)</a:t>
            </a:r>
            <a:endParaRPr/>
          </a:p>
        </p:txBody>
      </p:sp>
      <p:grpSp>
        <p:nvGrpSpPr>
          <p:cNvPr id="293" name="Google Shape;293;p41"/>
          <p:cNvGrpSpPr/>
          <p:nvPr/>
        </p:nvGrpSpPr>
        <p:grpSpPr>
          <a:xfrm>
            <a:off x="713150" y="1090100"/>
            <a:ext cx="7717800" cy="114325"/>
            <a:chOff x="208025" y="3106700"/>
            <a:chExt cx="7717800" cy="114325"/>
          </a:xfrm>
        </p:grpSpPr>
        <p:sp>
          <p:nvSpPr>
            <p:cNvPr id="294" name="Google Shape;294;p41"/>
            <p:cNvSpPr/>
            <p:nvPr/>
          </p:nvSpPr>
          <p:spPr>
            <a:xfrm>
              <a:off x="208025" y="3106725"/>
              <a:ext cx="75435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41"/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>
            <a:spLocks noGrp="1"/>
          </p:cNvSpPr>
          <p:nvPr>
            <p:ph type="title"/>
          </p:nvPr>
        </p:nvSpPr>
        <p:spPr>
          <a:xfrm>
            <a:off x="4764075" y="2392025"/>
            <a:ext cx="2083500" cy="5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 &amp; ÉQUIPE</a:t>
            </a:r>
            <a:endParaRPr/>
          </a:p>
        </p:txBody>
      </p:sp>
      <p:sp>
        <p:nvSpPr>
          <p:cNvPr id="277" name="Google Shape;277;p40"/>
          <p:cNvSpPr txBox="1">
            <a:spLocks noGrp="1"/>
          </p:cNvSpPr>
          <p:nvPr>
            <p:ph type="body" idx="1"/>
          </p:nvPr>
        </p:nvSpPr>
        <p:spPr>
          <a:xfrm>
            <a:off x="4764075" y="3207300"/>
            <a:ext cx="2732100" cy="6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Réponses Q1–Q4 &amp; Notre Équipe</a:t>
            </a:r>
            <a:endParaRPr/>
          </a:p>
        </p:txBody>
      </p:sp>
      <p:sp>
        <p:nvSpPr>
          <p:cNvPr id="278" name="Google Shape;278;p40"/>
          <p:cNvSpPr txBox="1">
            <a:spLocks noGrp="1"/>
          </p:cNvSpPr>
          <p:nvPr>
            <p:ph type="title" idx="2"/>
          </p:nvPr>
        </p:nvSpPr>
        <p:spPr>
          <a:xfrm>
            <a:off x="4879875" y="1534825"/>
            <a:ext cx="1061400" cy="71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279" name="Google Shape;279;p40"/>
          <p:cNvGrpSpPr/>
          <p:nvPr/>
        </p:nvGrpSpPr>
        <p:grpSpPr>
          <a:xfrm>
            <a:off x="4879875" y="3023000"/>
            <a:ext cx="1708788" cy="114325"/>
            <a:chOff x="6217037" y="3106700"/>
            <a:chExt cx="1708788" cy="114325"/>
          </a:xfrm>
        </p:grpSpPr>
        <p:sp>
          <p:nvSpPr>
            <p:cNvPr id="280" name="Google Shape;280;p40"/>
            <p:cNvSpPr/>
            <p:nvPr/>
          </p:nvSpPr>
          <p:spPr>
            <a:xfrm>
              <a:off x="6217037" y="3106725"/>
              <a:ext cx="15345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0"/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solidFill>
            <a:srgbClr val="000000">
              <a:alpha val="675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Réponses </a:t>
            </a:r>
            <a:r>
              <a:rPr lang="en">
                <a:solidFill>
                  <a:schemeClr val="lt1"/>
                </a:solidFill>
              </a:rPr>
              <a:t>Q1–Q4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6" name="Google Shape;396;p51"/>
          <p:cNvSpPr txBox="1">
            <a:spLocks noGrp="1"/>
          </p:cNvSpPr>
          <p:nvPr>
            <p:ph type="subTitle" idx="1"/>
          </p:nvPr>
        </p:nvSpPr>
        <p:spPr>
          <a:xfrm>
            <a:off x="1430086" y="2381137"/>
            <a:ext cx="25683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b="1"/>
              <a:t>Q1 — Coefficients</a:t>
            </a:r>
            <a:endParaRPr/>
          </a:p>
        </p:txBody>
      </p:sp>
      <p:sp>
        <p:nvSpPr>
          <p:cNvPr id="397" name="Google Shape;397;p51"/>
          <p:cNvSpPr txBox="1">
            <a:spLocks noGrp="1"/>
          </p:cNvSpPr>
          <p:nvPr>
            <p:ph type="subTitle" idx="2"/>
          </p:nvPr>
        </p:nvSpPr>
        <p:spPr>
          <a:xfrm>
            <a:off x="5145829" y="2381137"/>
            <a:ext cx="25680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Case 4 (centre) &amp; coins : coefficients les plus élevés. Cohérent avec stratégie humaine.</a:t>
            </a:r>
            <a:endParaRPr/>
          </a:p>
        </p:txBody>
      </p:sp>
      <p:sp>
        <p:nvSpPr>
          <p:cNvPr id="398" name="Google Shape;398;p51"/>
          <p:cNvSpPr txBox="1">
            <a:spLocks noGrp="1"/>
          </p:cNvSpPr>
          <p:nvPr>
            <p:ph type="subTitle" idx="3"/>
          </p:nvPr>
        </p:nvSpPr>
        <p:spPr>
          <a:xfrm>
            <a:off x="1429975" y="3674550"/>
            <a:ext cx="25683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XGBoost meilleur score global.is_draw plus difficile : positions ambigües.</a:t>
            </a:r>
            <a:endParaRPr/>
          </a:p>
        </p:txBody>
      </p:sp>
      <p:sp>
        <p:nvSpPr>
          <p:cNvPr id="399" name="Google Shape;399;p51"/>
          <p:cNvSpPr txBox="1">
            <a:spLocks noGrp="1"/>
          </p:cNvSpPr>
          <p:nvPr>
            <p:ph type="subTitle" idx="4"/>
          </p:nvPr>
        </p:nvSpPr>
        <p:spPr>
          <a:xfrm>
            <a:off x="5145675" y="3674548"/>
            <a:ext cx="25680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Hybride évite mieux les pièges : Minimax anticipe 3 coups, ML guide les feuilles.</a:t>
            </a:r>
            <a:endParaRPr/>
          </a:p>
        </p:txBody>
      </p:sp>
      <p:sp>
        <p:nvSpPr>
          <p:cNvPr id="400" name="Google Shape;400;p51"/>
          <p:cNvSpPr txBox="1">
            <a:spLocks noGrp="1"/>
          </p:cNvSpPr>
          <p:nvPr>
            <p:ph type="subTitle" idx="5"/>
          </p:nvPr>
        </p:nvSpPr>
        <p:spPr>
          <a:xfrm>
            <a:off x="1430075" y="1950675"/>
            <a:ext cx="2568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51"/>
          <p:cNvSpPr txBox="1">
            <a:spLocks noGrp="1"/>
          </p:cNvSpPr>
          <p:nvPr>
            <p:ph type="subTitle" idx="6"/>
          </p:nvPr>
        </p:nvSpPr>
        <p:spPr>
          <a:xfrm>
            <a:off x="5145425" y="1950675"/>
            <a:ext cx="2568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Q2 — Déséquilibre</a:t>
            </a:r>
            <a:endParaRPr/>
          </a:p>
        </p:txBody>
      </p:sp>
      <p:sp>
        <p:nvSpPr>
          <p:cNvPr id="402" name="Google Shape;402;p51"/>
          <p:cNvSpPr txBox="1">
            <a:spLocks noGrp="1"/>
          </p:cNvSpPr>
          <p:nvPr>
            <p:ph type="subTitle" idx="7"/>
          </p:nvPr>
        </p:nvSpPr>
        <p:spPr>
          <a:xfrm>
            <a:off x="1430075" y="3231017"/>
            <a:ext cx="2568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Q3 — Comparaison</a:t>
            </a:r>
            <a:endParaRPr/>
          </a:p>
        </p:txBody>
      </p:sp>
      <p:sp>
        <p:nvSpPr>
          <p:cNvPr id="403" name="Google Shape;403;p51"/>
          <p:cNvSpPr txBox="1">
            <a:spLocks noGrp="1"/>
          </p:cNvSpPr>
          <p:nvPr>
            <p:ph type="subTitle" idx="8"/>
          </p:nvPr>
        </p:nvSpPr>
        <p:spPr>
          <a:xfrm>
            <a:off x="5145425" y="3231017"/>
            <a:ext cx="2568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Q4 — Mode Hybride</a:t>
            </a:r>
            <a:endParaRPr/>
          </a:p>
        </p:txBody>
      </p:sp>
      <p:grpSp>
        <p:nvGrpSpPr>
          <p:cNvPr id="404" name="Google Shape;404;p51"/>
          <p:cNvGrpSpPr/>
          <p:nvPr/>
        </p:nvGrpSpPr>
        <p:grpSpPr>
          <a:xfrm>
            <a:off x="713150" y="1090100"/>
            <a:ext cx="7717800" cy="114325"/>
            <a:chOff x="208025" y="3106700"/>
            <a:chExt cx="7717800" cy="114325"/>
          </a:xfrm>
        </p:grpSpPr>
        <p:sp>
          <p:nvSpPr>
            <p:cNvPr id="405" name="Google Shape;405;p51"/>
            <p:cNvSpPr/>
            <p:nvPr/>
          </p:nvSpPr>
          <p:spPr>
            <a:xfrm>
              <a:off x="208025" y="3106725"/>
              <a:ext cx="75435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1"/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solidFill>
            <a:srgbClr val="000000">
              <a:alpha val="675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Notre </a:t>
            </a:r>
            <a:r>
              <a:rPr lang="en">
                <a:solidFill>
                  <a:schemeClr val="lt1"/>
                </a:solidFill>
              </a:rPr>
              <a:t>Équipe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7" name="Google Shape;637;p63"/>
          <p:cNvSpPr txBox="1">
            <a:spLocks noGrp="1"/>
          </p:cNvSpPr>
          <p:nvPr>
            <p:ph type="subTitle" idx="1"/>
          </p:nvPr>
        </p:nvSpPr>
        <p:spPr>
          <a:xfrm>
            <a:off x="720000" y="3438606"/>
            <a:ext cx="21411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VOLAMAMY Brainda (N°11) • ELIAZAFY Jean Elido Clever (N°19) • ANDRIAKOLONIAINA Mevasoa (N°51) • MBOLAMANA Mora Giovanni (N°46) • BEDAITTE Arimine (N°45) • RAKOTONANDRASANA Jean Nathanaël (N°40) • LEZO Honoricia Muguette (N°59)</a:t>
            </a:r>
            <a:endParaRPr/>
          </a:p>
        </p:txBody>
      </p:sp>
      <p:sp>
        <p:nvSpPr>
          <p:cNvPr id="638" name="Google Shape;638;p63"/>
          <p:cNvSpPr txBox="1">
            <a:spLocks noGrp="1"/>
          </p:cNvSpPr>
          <p:nvPr>
            <p:ph type="subTitle" idx="2"/>
          </p:nvPr>
        </p:nvSpPr>
        <p:spPr>
          <a:xfrm>
            <a:off x="6282775" y="3438606"/>
            <a:ext cx="21411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Hackathon Machine Learning — Morpion IA — Semestre 1</a:t>
            </a:r>
            <a:endParaRPr/>
          </a:p>
        </p:txBody>
      </p:sp>
      <p:sp>
        <p:nvSpPr>
          <p:cNvPr id="639" name="Google Shape;639;p63"/>
          <p:cNvSpPr txBox="1">
            <a:spLocks noGrp="1"/>
          </p:cNvSpPr>
          <p:nvPr>
            <p:ph type="subTitle" idx="3"/>
          </p:nvPr>
        </p:nvSpPr>
        <p:spPr>
          <a:xfrm>
            <a:off x="720000" y="3043000"/>
            <a:ext cx="21411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Than Conqueror</a:t>
            </a:r>
            <a:endParaRPr/>
          </a:p>
        </p:txBody>
      </p:sp>
      <p:sp>
        <p:nvSpPr>
          <p:cNvPr id="640" name="Google Shape;640;p63"/>
          <p:cNvSpPr txBox="1">
            <a:spLocks noGrp="1"/>
          </p:cNvSpPr>
          <p:nvPr>
            <p:ph type="subTitle" idx="4"/>
          </p:nvPr>
        </p:nvSpPr>
        <p:spPr>
          <a:xfrm>
            <a:off x="6282775" y="3043000"/>
            <a:ext cx="21411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IGGLIA4 — ISPM Madagascar</a:t>
            </a:r>
            <a:endParaRPr/>
          </a:p>
        </p:txBody>
      </p:sp>
      <p:pic>
        <p:nvPicPr>
          <p:cNvPr id="641" name="Google Shape;641;p63"/>
          <p:cNvPicPr preferRelativeResize="0"/>
          <p:nvPr/>
        </p:nvPicPr>
        <p:blipFill rotWithShape="1">
          <a:blip r:embed="rId3">
            <a:alphaModFix/>
          </a:blip>
          <a:srcRect l="37163" t="21963" r="30044" b="8904"/>
          <a:stretch/>
        </p:blipFill>
        <p:spPr>
          <a:xfrm>
            <a:off x="3020063" y="2048300"/>
            <a:ext cx="1485200" cy="208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63"/>
          <p:cNvPicPr preferRelativeResize="0"/>
          <p:nvPr/>
        </p:nvPicPr>
        <p:blipFill rotWithShape="1">
          <a:blip r:embed="rId4">
            <a:alphaModFix/>
          </a:blip>
          <a:srcRect l="31984" t="7724" r="24251"/>
          <a:stretch/>
        </p:blipFill>
        <p:spPr>
          <a:xfrm>
            <a:off x="4638620" y="2048300"/>
            <a:ext cx="1485181" cy="2088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3" name="Google Shape;643;p63"/>
          <p:cNvGrpSpPr/>
          <p:nvPr/>
        </p:nvGrpSpPr>
        <p:grpSpPr>
          <a:xfrm>
            <a:off x="713150" y="1090100"/>
            <a:ext cx="7717800" cy="114325"/>
            <a:chOff x="208025" y="3106700"/>
            <a:chExt cx="7717800" cy="114325"/>
          </a:xfrm>
        </p:grpSpPr>
        <p:sp>
          <p:nvSpPr>
            <p:cNvPr id="644" name="Google Shape;644;p63"/>
            <p:cNvSpPr/>
            <p:nvPr/>
          </p:nvSpPr>
          <p:spPr>
            <a:xfrm>
              <a:off x="208025" y="3106725"/>
              <a:ext cx="75435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63"/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>
          <a:extLst>
            <a:ext uri="{FF2B5EF4-FFF2-40B4-BE49-F238E27FC236}">
              <a16:creationId xmlns:a16="http://schemas.microsoft.com/office/drawing/2014/main" id="{F3EEE8C2-A035-4C65-6481-50A08279C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3">
            <a:extLst>
              <a:ext uri="{FF2B5EF4-FFF2-40B4-BE49-F238E27FC236}">
                <a16:creationId xmlns:a16="http://schemas.microsoft.com/office/drawing/2014/main" id="{37FC4A3B-B028-A0BD-38B5-4CBC864959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solidFill>
            <a:srgbClr val="000000">
              <a:alpha val="6759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Notre </a:t>
            </a:r>
            <a:r>
              <a:rPr lang="en">
                <a:solidFill>
                  <a:schemeClr val="lt1"/>
                </a:solidFill>
              </a:rPr>
              <a:t>Équipe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7" name="Google Shape;637;p63">
            <a:extLst>
              <a:ext uri="{FF2B5EF4-FFF2-40B4-BE49-F238E27FC236}">
                <a16:creationId xmlns:a16="http://schemas.microsoft.com/office/drawing/2014/main" id="{6A370606-827E-3060-3615-1A09CA2AFC5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3438606"/>
            <a:ext cx="21411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VOLAMAMY Brainda (N°11) • ELIAZAFY Jean Elido Clever (N°19) • ANDRIAKOLONIAINA Mevasoa (N°51) • MBOLAMANA Mora Giovanni (N°46) • BEDAITTE Arimine (N°45) • RAKOTONANDRASANA Jean Nathanaël (N°40) • LEZO Honoricia Muguette (N°59)</a:t>
            </a:r>
            <a:endParaRPr/>
          </a:p>
        </p:txBody>
      </p:sp>
      <p:sp>
        <p:nvSpPr>
          <p:cNvPr id="638" name="Google Shape;638;p63">
            <a:extLst>
              <a:ext uri="{FF2B5EF4-FFF2-40B4-BE49-F238E27FC236}">
                <a16:creationId xmlns:a16="http://schemas.microsoft.com/office/drawing/2014/main" id="{ACB79A5C-3967-028D-AC25-E76DF2C2DDB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282775" y="3438606"/>
            <a:ext cx="21411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Hackathon Machine Learning — Morpion IA — Semestre 1</a:t>
            </a:r>
            <a:endParaRPr/>
          </a:p>
        </p:txBody>
      </p:sp>
      <p:sp>
        <p:nvSpPr>
          <p:cNvPr id="639" name="Google Shape;639;p63">
            <a:extLst>
              <a:ext uri="{FF2B5EF4-FFF2-40B4-BE49-F238E27FC236}">
                <a16:creationId xmlns:a16="http://schemas.microsoft.com/office/drawing/2014/main" id="{ACE76760-470F-DB1A-1CD4-6199ECD9E1F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20000" y="3043000"/>
            <a:ext cx="21411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Than Conqueror</a:t>
            </a:r>
            <a:endParaRPr/>
          </a:p>
        </p:txBody>
      </p:sp>
      <p:sp>
        <p:nvSpPr>
          <p:cNvPr id="640" name="Google Shape;640;p63">
            <a:extLst>
              <a:ext uri="{FF2B5EF4-FFF2-40B4-BE49-F238E27FC236}">
                <a16:creationId xmlns:a16="http://schemas.microsoft.com/office/drawing/2014/main" id="{0E08D1E9-949F-2868-D936-4598BFF1DD7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282775" y="3043000"/>
            <a:ext cx="21411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IGGLIA4 — ISPM Madagascar</a:t>
            </a:r>
            <a:endParaRPr/>
          </a:p>
        </p:txBody>
      </p:sp>
      <p:pic>
        <p:nvPicPr>
          <p:cNvPr id="641" name="Google Shape;641;p63">
            <a:extLst>
              <a:ext uri="{FF2B5EF4-FFF2-40B4-BE49-F238E27FC236}">
                <a16:creationId xmlns:a16="http://schemas.microsoft.com/office/drawing/2014/main" id="{64C40D40-43E6-3E86-4FCB-11467AAB2D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7163" t="21963" r="30044" b="8904"/>
          <a:stretch/>
        </p:blipFill>
        <p:spPr>
          <a:xfrm>
            <a:off x="3020063" y="2048300"/>
            <a:ext cx="1485200" cy="208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63">
            <a:extLst>
              <a:ext uri="{FF2B5EF4-FFF2-40B4-BE49-F238E27FC236}">
                <a16:creationId xmlns:a16="http://schemas.microsoft.com/office/drawing/2014/main" id="{4D5599EE-A099-CA94-C2FF-2A59D839F4E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1984" t="7724" r="24251"/>
          <a:stretch/>
        </p:blipFill>
        <p:spPr>
          <a:xfrm>
            <a:off x="4638620" y="2048300"/>
            <a:ext cx="1485181" cy="2088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3" name="Google Shape;643;p63">
            <a:extLst>
              <a:ext uri="{FF2B5EF4-FFF2-40B4-BE49-F238E27FC236}">
                <a16:creationId xmlns:a16="http://schemas.microsoft.com/office/drawing/2014/main" id="{CD22302C-2B2E-A6F3-AD38-5B26589CDA24}"/>
              </a:ext>
            </a:extLst>
          </p:cNvPr>
          <p:cNvGrpSpPr/>
          <p:nvPr/>
        </p:nvGrpSpPr>
        <p:grpSpPr>
          <a:xfrm>
            <a:off x="713150" y="1090100"/>
            <a:ext cx="7717800" cy="114325"/>
            <a:chOff x="208025" y="3106700"/>
            <a:chExt cx="7717800" cy="114325"/>
          </a:xfrm>
        </p:grpSpPr>
        <p:sp>
          <p:nvSpPr>
            <p:cNvPr id="644" name="Google Shape;644;p63">
              <a:extLst>
                <a:ext uri="{FF2B5EF4-FFF2-40B4-BE49-F238E27FC236}">
                  <a16:creationId xmlns:a16="http://schemas.microsoft.com/office/drawing/2014/main" id="{053E623F-02CE-191D-41A6-EE84CF44F8EB}"/>
                </a:ext>
              </a:extLst>
            </p:cNvPr>
            <p:cNvSpPr/>
            <p:nvPr/>
          </p:nvSpPr>
          <p:spPr>
            <a:xfrm>
              <a:off x="208025" y="3106725"/>
              <a:ext cx="75435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63">
              <a:extLst>
                <a:ext uri="{FF2B5EF4-FFF2-40B4-BE49-F238E27FC236}">
                  <a16:creationId xmlns:a16="http://schemas.microsoft.com/office/drawing/2014/main" id="{BB918F98-B59A-5B18-EB92-3A64E48F7087}"/>
                </a:ext>
              </a:extLst>
            </p:cNvPr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74344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4"/>
          <p:cNvSpPr txBox="1">
            <a:spLocks noGrp="1"/>
          </p:cNvSpPr>
          <p:nvPr>
            <p:ph type="subTitle" idx="1"/>
          </p:nvPr>
        </p:nvSpPr>
        <p:spPr>
          <a:xfrm>
            <a:off x="2642825" y="1883513"/>
            <a:ext cx="3852000" cy="10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Merci pour votre attention !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Groupe More Than Conqueror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IGGLIA4 — ISPM Madagascar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Hackathon Machine Learning — Morpion IA</a:t>
            </a:r>
            <a:endParaRPr/>
          </a:p>
        </p:txBody>
      </p:sp>
      <p:sp>
        <p:nvSpPr>
          <p:cNvPr id="651" name="Google Shape;651;p64"/>
          <p:cNvSpPr txBox="1"/>
          <p:nvPr/>
        </p:nvSpPr>
        <p:spPr>
          <a:xfrm>
            <a:off x="2649100" y="3380125"/>
            <a:ext cx="38520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Please keep this slide for attribution</a:t>
            </a:r>
            <a:endParaRPr sz="1200" b="1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652" name="Google Shape;652;p64"/>
          <p:cNvGrpSpPr/>
          <p:nvPr/>
        </p:nvGrpSpPr>
        <p:grpSpPr>
          <a:xfrm>
            <a:off x="4054977" y="3019851"/>
            <a:ext cx="1027628" cy="274781"/>
            <a:chOff x="4051877" y="3387914"/>
            <a:chExt cx="1027628" cy="274781"/>
          </a:xfrm>
        </p:grpSpPr>
        <p:grpSp>
          <p:nvGrpSpPr>
            <p:cNvPr id="653" name="Google Shape;653;p64"/>
            <p:cNvGrpSpPr/>
            <p:nvPr/>
          </p:nvGrpSpPr>
          <p:grpSpPr>
            <a:xfrm>
              <a:off x="4804725" y="3387914"/>
              <a:ext cx="274780" cy="274780"/>
              <a:chOff x="1379798" y="1723250"/>
              <a:chExt cx="397887" cy="397887"/>
            </a:xfrm>
          </p:grpSpPr>
          <p:sp>
            <p:nvSpPr>
              <p:cNvPr id="654" name="Google Shape;654;p64"/>
              <p:cNvSpPr/>
              <p:nvPr/>
            </p:nvSpPr>
            <p:spPr>
              <a:xfrm>
                <a:off x="1462169" y="1793977"/>
                <a:ext cx="23354" cy="23312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1117" extrusionOk="0">
                    <a:moveTo>
                      <a:pt x="559" y="1"/>
                    </a:moveTo>
                    <a:cubicBezTo>
                      <a:pt x="251" y="1"/>
                      <a:pt x="0" y="250"/>
                      <a:pt x="0" y="558"/>
                    </a:cubicBezTo>
                    <a:cubicBezTo>
                      <a:pt x="0" y="866"/>
                      <a:pt x="251" y="1117"/>
                      <a:pt x="559" y="1117"/>
                    </a:cubicBezTo>
                    <a:cubicBezTo>
                      <a:pt x="867" y="1117"/>
                      <a:pt x="1118" y="866"/>
                      <a:pt x="1118" y="558"/>
                    </a:cubicBezTo>
                    <a:cubicBezTo>
                      <a:pt x="1118" y="250"/>
                      <a:pt x="867" y="1"/>
                      <a:pt x="5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655" name="Google Shape;655;p64"/>
              <p:cNvSpPr/>
              <p:nvPr/>
            </p:nvSpPr>
            <p:spPr>
              <a:xfrm>
                <a:off x="1379798" y="1723250"/>
                <a:ext cx="397887" cy="397887"/>
              </a:xfrm>
              <a:custGeom>
                <a:avLst/>
                <a:gdLst/>
                <a:ahLst/>
                <a:cxnLst/>
                <a:rect l="l" t="t" r="r" b="b"/>
                <a:pathLst>
                  <a:path w="19065" h="19065" extrusionOk="0">
                    <a:moveTo>
                      <a:pt x="4506" y="2271"/>
                    </a:moveTo>
                    <a:cubicBezTo>
                      <a:pt x="5429" y="2271"/>
                      <a:pt x="6181" y="3023"/>
                      <a:pt x="6181" y="3947"/>
                    </a:cubicBezTo>
                    <a:cubicBezTo>
                      <a:pt x="6181" y="4872"/>
                      <a:pt x="5429" y="5622"/>
                      <a:pt x="4506" y="5622"/>
                    </a:cubicBezTo>
                    <a:cubicBezTo>
                      <a:pt x="3583" y="5622"/>
                      <a:pt x="2831" y="4872"/>
                      <a:pt x="2831" y="3947"/>
                    </a:cubicBezTo>
                    <a:cubicBezTo>
                      <a:pt x="2831" y="3023"/>
                      <a:pt x="3583" y="2271"/>
                      <a:pt x="4506" y="2271"/>
                    </a:cubicBezTo>
                    <a:close/>
                    <a:moveTo>
                      <a:pt x="5622" y="6740"/>
                    </a:moveTo>
                    <a:cubicBezTo>
                      <a:pt x="5932" y="6740"/>
                      <a:pt x="6181" y="6989"/>
                      <a:pt x="6181" y="7299"/>
                    </a:cubicBezTo>
                    <a:lnTo>
                      <a:pt x="6181" y="16234"/>
                    </a:lnTo>
                    <a:cubicBezTo>
                      <a:pt x="6181" y="16544"/>
                      <a:pt x="5932" y="16793"/>
                      <a:pt x="5622" y="16793"/>
                    </a:cubicBezTo>
                    <a:lnTo>
                      <a:pt x="3388" y="16793"/>
                    </a:lnTo>
                    <a:cubicBezTo>
                      <a:pt x="3080" y="16793"/>
                      <a:pt x="2831" y="16544"/>
                      <a:pt x="2831" y="16234"/>
                    </a:cubicBezTo>
                    <a:lnTo>
                      <a:pt x="2831" y="7299"/>
                    </a:lnTo>
                    <a:cubicBezTo>
                      <a:pt x="2831" y="6989"/>
                      <a:pt x="3080" y="6740"/>
                      <a:pt x="3388" y="6740"/>
                    </a:cubicBezTo>
                    <a:close/>
                    <a:moveTo>
                      <a:pt x="12596" y="6721"/>
                    </a:moveTo>
                    <a:cubicBezTo>
                      <a:pt x="12811" y="6721"/>
                      <a:pt x="13027" y="6739"/>
                      <a:pt x="13241" y="6774"/>
                    </a:cubicBezTo>
                    <a:cubicBezTo>
                      <a:pt x="15058" y="7069"/>
                      <a:pt x="16235" y="8557"/>
                      <a:pt x="16235" y="10223"/>
                    </a:cubicBezTo>
                    <a:lnTo>
                      <a:pt x="16235" y="16234"/>
                    </a:lnTo>
                    <a:cubicBezTo>
                      <a:pt x="16235" y="16544"/>
                      <a:pt x="15985" y="16793"/>
                      <a:pt x="15676" y="16793"/>
                    </a:cubicBezTo>
                    <a:lnTo>
                      <a:pt x="13441" y="16793"/>
                    </a:lnTo>
                    <a:cubicBezTo>
                      <a:pt x="13133" y="16793"/>
                      <a:pt x="12884" y="16544"/>
                      <a:pt x="12884" y="16234"/>
                    </a:cubicBezTo>
                    <a:lnTo>
                      <a:pt x="12884" y="11209"/>
                    </a:lnTo>
                    <a:cubicBezTo>
                      <a:pt x="12884" y="10593"/>
                      <a:pt x="12382" y="10091"/>
                      <a:pt x="11766" y="10091"/>
                    </a:cubicBezTo>
                    <a:cubicBezTo>
                      <a:pt x="11150" y="10091"/>
                      <a:pt x="10650" y="10593"/>
                      <a:pt x="10650" y="11209"/>
                    </a:cubicBezTo>
                    <a:lnTo>
                      <a:pt x="10650" y="16234"/>
                    </a:lnTo>
                    <a:cubicBezTo>
                      <a:pt x="10650" y="16544"/>
                      <a:pt x="10399" y="16793"/>
                      <a:pt x="10091" y="16793"/>
                    </a:cubicBezTo>
                    <a:lnTo>
                      <a:pt x="7857" y="16793"/>
                    </a:lnTo>
                    <a:cubicBezTo>
                      <a:pt x="7547" y="16793"/>
                      <a:pt x="7298" y="16544"/>
                      <a:pt x="7298" y="16234"/>
                    </a:cubicBezTo>
                    <a:lnTo>
                      <a:pt x="7298" y="7299"/>
                    </a:lnTo>
                    <a:cubicBezTo>
                      <a:pt x="7298" y="6989"/>
                      <a:pt x="7547" y="6740"/>
                      <a:pt x="7857" y="6740"/>
                    </a:cubicBezTo>
                    <a:lnTo>
                      <a:pt x="10091" y="6740"/>
                    </a:lnTo>
                    <a:cubicBezTo>
                      <a:pt x="10377" y="6740"/>
                      <a:pt x="10613" y="6956"/>
                      <a:pt x="10644" y="7234"/>
                    </a:cubicBezTo>
                    <a:cubicBezTo>
                      <a:pt x="11219" y="6901"/>
                      <a:pt x="11901" y="6721"/>
                      <a:pt x="12596" y="6721"/>
                    </a:cubicBezTo>
                    <a:close/>
                    <a:moveTo>
                      <a:pt x="2831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31" y="19065"/>
                    </a:cubicBezTo>
                    <a:lnTo>
                      <a:pt x="16235" y="19065"/>
                    </a:lnTo>
                    <a:cubicBezTo>
                      <a:pt x="17774" y="19065"/>
                      <a:pt x="19065" y="17775"/>
                      <a:pt x="19065" y="16234"/>
                    </a:cubicBezTo>
                    <a:lnTo>
                      <a:pt x="19065" y="2831"/>
                    </a:lnTo>
                    <a:cubicBezTo>
                      <a:pt x="19065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656" name="Google Shape;656;p64"/>
              <p:cNvSpPr/>
              <p:nvPr/>
            </p:nvSpPr>
            <p:spPr>
              <a:xfrm>
                <a:off x="1555413" y="1886846"/>
                <a:ext cx="139912" cy="163558"/>
              </a:xfrm>
              <a:custGeom>
                <a:avLst/>
                <a:gdLst/>
                <a:ahLst/>
                <a:cxnLst/>
                <a:rect l="l" t="t" r="r" b="b"/>
                <a:pathLst>
                  <a:path w="6704" h="7837" extrusionOk="0">
                    <a:moveTo>
                      <a:pt x="4182" y="0"/>
                    </a:moveTo>
                    <a:cubicBezTo>
                      <a:pt x="3474" y="0"/>
                      <a:pt x="2782" y="261"/>
                      <a:pt x="2332" y="711"/>
                    </a:cubicBezTo>
                    <a:cubicBezTo>
                      <a:pt x="2108" y="935"/>
                      <a:pt x="1938" y="1142"/>
                      <a:pt x="1686" y="1142"/>
                    </a:cubicBezTo>
                    <a:cubicBezTo>
                      <a:pt x="1618" y="1142"/>
                      <a:pt x="1544" y="1127"/>
                      <a:pt x="1462" y="1093"/>
                    </a:cubicBezTo>
                    <a:cubicBezTo>
                      <a:pt x="1253" y="1006"/>
                      <a:pt x="1117" y="803"/>
                      <a:pt x="1117" y="576"/>
                    </a:cubicBezTo>
                    <a:lnTo>
                      <a:pt x="1117" y="17"/>
                    </a:lnTo>
                    <a:lnTo>
                      <a:pt x="1" y="17"/>
                    </a:lnTo>
                    <a:lnTo>
                      <a:pt x="1" y="7836"/>
                    </a:lnTo>
                    <a:lnTo>
                      <a:pt x="1117" y="7836"/>
                    </a:lnTo>
                    <a:lnTo>
                      <a:pt x="1117" y="3370"/>
                    </a:lnTo>
                    <a:cubicBezTo>
                      <a:pt x="1117" y="2137"/>
                      <a:pt x="2120" y="1135"/>
                      <a:pt x="3351" y="1135"/>
                    </a:cubicBezTo>
                    <a:cubicBezTo>
                      <a:pt x="4584" y="1135"/>
                      <a:pt x="5585" y="2137"/>
                      <a:pt x="5585" y="3370"/>
                    </a:cubicBezTo>
                    <a:lnTo>
                      <a:pt x="5585" y="7836"/>
                    </a:lnTo>
                    <a:lnTo>
                      <a:pt x="6703" y="7836"/>
                    </a:lnTo>
                    <a:lnTo>
                      <a:pt x="6703" y="2384"/>
                    </a:lnTo>
                    <a:cubicBezTo>
                      <a:pt x="6703" y="1266"/>
                      <a:pt x="5932" y="245"/>
                      <a:pt x="4648" y="38"/>
                    </a:cubicBezTo>
                    <a:cubicBezTo>
                      <a:pt x="4493" y="13"/>
                      <a:pt x="4337" y="0"/>
                      <a:pt x="41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657" name="Google Shape;657;p64"/>
              <p:cNvSpPr/>
              <p:nvPr/>
            </p:nvSpPr>
            <p:spPr>
              <a:xfrm>
                <a:off x="1462169" y="1887200"/>
                <a:ext cx="23354" cy="163203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7820" extrusionOk="0">
                    <a:moveTo>
                      <a:pt x="0" y="0"/>
                    </a:moveTo>
                    <a:lnTo>
                      <a:pt x="0" y="7819"/>
                    </a:lnTo>
                    <a:lnTo>
                      <a:pt x="1118" y="7819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658" name="Google Shape;658;p64"/>
            <p:cNvGrpSpPr/>
            <p:nvPr/>
          </p:nvGrpSpPr>
          <p:grpSpPr>
            <a:xfrm>
              <a:off x="4051877" y="3387914"/>
              <a:ext cx="274795" cy="274780"/>
              <a:chOff x="266768" y="1721375"/>
              <a:chExt cx="397907" cy="397887"/>
            </a:xfrm>
          </p:grpSpPr>
          <p:sp>
            <p:nvSpPr>
              <p:cNvPr id="659" name="Google Shape;659;p64"/>
              <p:cNvSpPr/>
              <p:nvPr/>
            </p:nvSpPr>
            <p:spPr>
              <a:xfrm>
                <a:off x="454843" y="1791037"/>
                <a:ext cx="136218" cy="328222"/>
              </a:xfrm>
              <a:custGeom>
                <a:avLst/>
                <a:gdLst/>
                <a:ahLst/>
                <a:cxnLst/>
                <a:rect l="l" t="t" r="r" b="b"/>
                <a:pathLst>
                  <a:path w="6527" h="15727" extrusionOk="0">
                    <a:moveTo>
                      <a:pt x="4957" y="1"/>
                    </a:moveTo>
                    <a:cubicBezTo>
                      <a:pt x="4645" y="1"/>
                      <a:pt x="4336" y="24"/>
                      <a:pt x="4028" y="69"/>
                    </a:cubicBezTo>
                    <a:cubicBezTo>
                      <a:pt x="2588" y="280"/>
                      <a:pt x="1700" y="890"/>
                      <a:pt x="1675" y="2250"/>
                    </a:cubicBezTo>
                    <a:lnTo>
                      <a:pt x="1675" y="5040"/>
                    </a:lnTo>
                    <a:cubicBezTo>
                      <a:pt x="1675" y="5348"/>
                      <a:pt x="1426" y="5599"/>
                      <a:pt x="1118" y="5599"/>
                    </a:cubicBezTo>
                    <a:lnTo>
                      <a:pt x="0" y="5599"/>
                    </a:lnTo>
                    <a:lnTo>
                      <a:pt x="0" y="6715"/>
                    </a:lnTo>
                    <a:lnTo>
                      <a:pt x="1118" y="6715"/>
                    </a:lnTo>
                    <a:cubicBezTo>
                      <a:pt x="1426" y="6715"/>
                      <a:pt x="1675" y="6965"/>
                      <a:pt x="1675" y="7274"/>
                    </a:cubicBezTo>
                    <a:lnTo>
                      <a:pt x="1675" y="15727"/>
                    </a:lnTo>
                    <a:lnTo>
                      <a:pt x="3352" y="15727"/>
                    </a:lnTo>
                    <a:lnTo>
                      <a:pt x="3352" y="7274"/>
                    </a:lnTo>
                    <a:cubicBezTo>
                      <a:pt x="3352" y="6965"/>
                      <a:pt x="3602" y="6715"/>
                      <a:pt x="3910" y="6715"/>
                    </a:cubicBezTo>
                    <a:lnTo>
                      <a:pt x="5709" y="6715"/>
                    </a:lnTo>
                    <a:lnTo>
                      <a:pt x="5987" y="5599"/>
                    </a:lnTo>
                    <a:lnTo>
                      <a:pt x="3910" y="5599"/>
                    </a:lnTo>
                    <a:cubicBezTo>
                      <a:pt x="3602" y="5599"/>
                      <a:pt x="3352" y="5348"/>
                      <a:pt x="3352" y="5040"/>
                    </a:cubicBezTo>
                    <a:lnTo>
                      <a:pt x="3352" y="3253"/>
                    </a:lnTo>
                    <a:cubicBezTo>
                      <a:pt x="3352" y="2316"/>
                      <a:pt x="3942" y="1677"/>
                      <a:pt x="4968" y="1504"/>
                    </a:cubicBezTo>
                    <a:cubicBezTo>
                      <a:pt x="5157" y="1473"/>
                      <a:pt x="5339" y="1460"/>
                      <a:pt x="5511" y="1460"/>
                    </a:cubicBezTo>
                    <a:cubicBezTo>
                      <a:pt x="5810" y="1460"/>
                      <a:pt x="6082" y="1498"/>
                      <a:pt x="6324" y="1546"/>
                    </a:cubicBezTo>
                    <a:lnTo>
                      <a:pt x="6526" y="182"/>
                    </a:lnTo>
                    <a:cubicBezTo>
                      <a:pt x="5988" y="62"/>
                      <a:pt x="5468" y="1"/>
                      <a:pt x="49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660" name="Google Shape;660;p64"/>
              <p:cNvSpPr/>
              <p:nvPr/>
            </p:nvSpPr>
            <p:spPr>
              <a:xfrm>
                <a:off x="266768" y="1721375"/>
                <a:ext cx="397907" cy="397887"/>
              </a:xfrm>
              <a:custGeom>
                <a:avLst/>
                <a:gdLst/>
                <a:ahLst/>
                <a:cxnLst/>
                <a:rect l="l" t="t" r="r" b="b"/>
                <a:pathLst>
                  <a:path w="19066" h="19065" extrusionOk="0">
                    <a:moveTo>
                      <a:pt x="2794" y="0"/>
                    </a:moveTo>
                    <a:cubicBezTo>
                      <a:pt x="1255" y="0"/>
                      <a:pt x="1" y="1253"/>
                      <a:pt x="1" y="2793"/>
                    </a:cubicBezTo>
                    <a:lnTo>
                      <a:pt x="1" y="16271"/>
                    </a:lnTo>
                    <a:cubicBezTo>
                      <a:pt x="1" y="17812"/>
                      <a:pt x="1255" y="19065"/>
                      <a:pt x="2794" y="19065"/>
                    </a:cubicBezTo>
                    <a:lnTo>
                      <a:pt x="9571" y="19065"/>
                    </a:lnTo>
                    <a:lnTo>
                      <a:pt x="9571" y="11171"/>
                    </a:lnTo>
                    <a:lnTo>
                      <a:pt x="8453" y="11171"/>
                    </a:lnTo>
                    <a:cubicBezTo>
                      <a:pt x="8145" y="11171"/>
                      <a:pt x="7896" y="10920"/>
                      <a:pt x="7896" y="10612"/>
                    </a:cubicBezTo>
                    <a:lnTo>
                      <a:pt x="7896" y="8378"/>
                    </a:lnTo>
                    <a:cubicBezTo>
                      <a:pt x="7896" y="8070"/>
                      <a:pt x="8145" y="7819"/>
                      <a:pt x="8453" y="7819"/>
                    </a:cubicBezTo>
                    <a:lnTo>
                      <a:pt x="9571" y="7819"/>
                    </a:lnTo>
                    <a:lnTo>
                      <a:pt x="9571" y="5836"/>
                    </a:lnTo>
                    <a:cubicBezTo>
                      <a:pt x="9571" y="3710"/>
                      <a:pt x="10741" y="2615"/>
                      <a:pt x="12878" y="2302"/>
                    </a:cubicBezTo>
                    <a:cubicBezTo>
                      <a:pt x="13231" y="2249"/>
                      <a:pt x="13591" y="2223"/>
                      <a:pt x="13956" y="2223"/>
                    </a:cubicBezTo>
                    <a:cubicBezTo>
                      <a:pt x="14725" y="2223"/>
                      <a:pt x="15517" y="2339"/>
                      <a:pt x="16318" y="2567"/>
                    </a:cubicBezTo>
                    <a:cubicBezTo>
                      <a:pt x="16589" y="2643"/>
                      <a:pt x="16759" y="2908"/>
                      <a:pt x="16718" y="3186"/>
                    </a:cubicBezTo>
                    <a:lnTo>
                      <a:pt x="16352" y="5650"/>
                    </a:lnTo>
                    <a:cubicBezTo>
                      <a:pt x="16329" y="5806"/>
                      <a:pt x="16240" y="5944"/>
                      <a:pt x="16111" y="6031"/>
                    </a:cubicBezTo>
                    <a:cubicBezTo>
                      <a:pt x="16006" y="6102"/>
                      <a:pt x="15912" y="6127"/>
                      <a:pt x="15818" y="6127"/>
                    </a:cubicBezTo>
                    <a:cubicBezTo>
                      <a:pt x="15717" y="6127"/>
                      <a:pt x="15614" y="6098"/>
                      <a:pt x="15494" y="6068"/>
                    </a:cubicBezTo>
                    <a:cubicBezTo>
                      <a:pt x="15202" y="5995"/>
                      <a:pt x="14879" y="5914"/>
                      <a:pt x="14527" y="5914"/>
                    </a:cubicBezTo>
                    <a:cubicBezTo>
                      <a:pt x="14409" y="5914"/>
                      <a:pt x="14289" y="5923"/>
                      <a:pt x="14165" y="5944"/>
                    </a:cubicBezTo>
                    <a:cubicBezTo>
                      <a:pt x="13534" y="6050"/>
                      <a:pt x="13481" y="6333"/>
                      <a:pt x="13481" y="6590"/>
                    </a:cubicBezTo>
                    <a:lnTo>
                      <a:pt x="13481" y="7819"/>
                    </a:lnTo>
                    <a:lnTo>
                      <a:pt x="15715" y="7819"/>
                    </a:lnTo>
                    <a:cubicBezTo>
                      <a:pt x="15887" y="7819"/>
                      <a:pt x="16048" y="7899"/>
                      <a:pt x="16154" y="8035"/>
                    </a:cubicBezTo>
                    <a:cubicBezTo>
                      <a:pt x="16260" y="8169"/>
                      <a:pt x="16297" y="8346"/>
                      <a:pt x="16256" y="8513"/>
                    </a:cubicBezTo>
                    <a:lnTo>
                      <a:pt x="15697" y="10747"/>
                    </a:lnTo>
                    <a:cubicBezTo>
                      <a:pt x="15635" y="10996"/>
                      <a:pt x="15412" y="11170"/>
                      <a:pt x="15156" y="11170"/>
                    </a:cubicBezTo>
                    <a:lnTo>
                      <a:pt x="13481" y="11170"/>
                    </a:lnTo>
                    <a:lnTo>
                      <a:pt x="13481" y="19065"/>
                    </a:lnTo>
                    <a:lnTo>
                      <a:pt x="16272" y="19065"/>
                    </a:lnTo>
                    <a:cubicBezTo>
                      <a:pt x="17813" y="19065"/>
                      <a:pt x="19066" y="17810"/>
                      <a:pt x="19066" y="16271"/>
                    </a:cubicBezTo>
                    <a:lnTo>
                      <a:pt x="19066" y="2793"/>
                    </a:lnTo>
                    <a:cubicBezTo>
                      <a:pt x="19066" y="1253"/>
                      <a:pt x="17813" y="0"/>
                      <a:pt x="162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661" name="Google Shape;661;p64"/>
            <p:cNvGrpSpPr/>
            <p:nvPr/>
          </p:nvGrpSpPr>
          <p:grpSpPr>
            <a:xfrm>
              <a:off x="4428314" y="3387914"/>
              <a:ext cx="274766" cy="274780"/>
              <a:chOff x="864491" y="1723250"/>
              <a:chExt cx="397866" cy="397887"/>
            </a:xfrm>
          </p:grpSpPr>
          <p:sp>
            <p:nvSpPr>
              <p:cNvPr id="662" name="Google Shape;662;p64"/>
              <p:cNvSpPr/>
              <p:nvPr/>
            </p:nvSpPr>
            <p:spPr>
              <a:xfrm>
                <a:off x="935197" y="1793977"/>
                <a:ext cx="256451" cy="256430"/>
              </a:xfrm>
              <a:custGeom>
                <a:avLst/>
                <a:gdLst/>
                <a:ahLst/>
                <a:cxnLst/>
                <a:rect l="l" t="t" r="r" b="b"/>
                <a:pathLst>
                  <a:path w="12288" h="12287" extrusionOk="0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663" name="Google Shape;663;p64"/>
              <p:cNvSpPr/>
              <p:nvPr/>
            </p:nvSpPr>
            <p:spPr>
              <a:xfrm>
                <a:off x="1005109" y="1863910"/>
                <a:ext cx="116622" cy="116559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5585" extrusionOk="0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664" name="Google Shape;664;p64"/>
              <p:cNvSpPr/>
              <p:nvPr/>
            </p:nvSpPr>
            <p:spPr>
              <a:xfrm>
                <a:off x="864491" y="1723250"/>
                <a:ext cx="397866" cy="397887"/>
              </a:xfrm>
              <a:custGeom>
                <a:avLst/>
                <a:gdLst/>
                <a:ahLst/>
                <a:cxnLst/>
                <a:rect l="l" t="t" r="r" b="b"/>
                <a:pathLst>
                  <a:path w="19064" h="19065" extrusionOk="0">
                    <a:moveTo>
                      <a:pt x="14000" y="2271"/>
                    </a:moveTo>
                    <a:cubicBezTo>
                      <a:pt x="15539" y="2271"/>
                      <a:pt x="16794" y="3524"/>
                      <a:pt x="16794" y="5065"/>
                    </a:cubicBezTo>
                    <a:lnTo>
                      <a:pt x="16794" y="14000"/>
                    </a:lnTo>
                    <a:cubicBezTo>
                      <a:pt x="16794" y="15541"/>
                      <a:pt x="15539" y="16793"/>
                      <a:pt x="14000" y="16793"/>
                    </a:cubicBezTo>
                    <a:lnTo>
                      <a:pt x="5063" y="16793"/>
                    </a:lnTo>
                    <a:cubicBezTo>
                      <a:pt x="3524" y="16793"/>
                      <a:pt x="2272" y="15541"/>
                      <a:pt x="2272" y="14000"/>
                    </a:cubicBezTo>
                    <a:lnTo>
                      <a:pt x="2272" y="5065"/>
                    </a:lnTo>
                    <a:cubicBezTo>
                      <a:pt x="2272" y="3524"/>
                      <a:pt x="3524" y="2271"/>
                      <a:pt x="5063" y="2271"/>
                    </a:cubicBezTo>
                    <a:close/>
                    <a:moveTo>
                      <a:pt x="2829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29" y="19065"/>
                    </a:cubicBezTo>
                    <a:lnTo>
                      <a:pt x="16235" y="19065"/>
                    </a:lnTo>
                    <a:cubicBezTo>
                      <a:pt x="17774" y="19065"/>
                      <a:pt x="19063" y="17775"/>
                      <a:pt x="19063" y="16234"/>
                    </a:cubicBezTo>
                    <a:lnTo>
                      <a:pt x="19063" y="2831"/>
                    </a:lnTo>
                    <a:cubicBezTo>
                      <a:pt x="19063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665" name="Google Shape;665;p64"/>
          <p:cNvSpPr txBox="1">
            <a:spLocks noGrp="1"/>
          </p:cNvSpPr>
          <p:nvPr>
            <p:ph type="ctrTitle"/>
          </p:nvPr>
        </p:nvSpPr>
        <p:spPr>
          <a:xfrm flipH="1">
            <a:off x="2649175" y="760750"/>
            <a:ext cx="3852000" cy="97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666" name="Google Shape;666;p64"/>
          <p:cNvGrpSpPr/>
          <p:nvPr/>
        </p:nvGrpSpPr>
        <p:grpSpPr>
          <a:xfrm>
            <a:off x="3497950" y="1684600"/>
            <a:ext cx="2175250" cy="114325"/>
            <a:chOff x="5750575" y="3106700"/>
            <a:chExt cx="2175250" cy="114325"/>
          </a:xfrm>
        </p:grpSpPr>
        <p:sp>
          <p:nvSpPr>
            <p:cNvPr id="667" name="Google Shape;667;p64"/>
            <p:cNvSpPr/>
            <p:nvPr/>
          </p:nvSpPr>
          <p:spPr>
            <a:xfrm>
              <a:off x="5750575" y="3106725"/>
              <a:ext cx="200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64"/>
            <p:cNvSpPr/>
            <p:nvPr/>
          </p:nvSpPr>
          <p:spPr>
            <a:xfrm>
              <a:off x="7814825" y="3106700"/>
              <a:ext cx="11100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Hackathon Project Proposal by Slidesgo">
  <a:themeElements>
    <a:clrScheme name="Simple Light">
      <a:dk1>
        <a:srgbClr val="FFFFFF"/>
      </a:dk1>
      <a:lt1>
        <a:srgbClr val="EB008B"/>
      </a:lt1>
      <a:dk2>
        <a:srgbClr val="1F1A6B"/>
      </a:dk2>
      <a:lt2>
        <a:srgbClr val="00ADE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805</Words>
  <Application>Microsoft Office PowerPoint</Application>
  <PresentationFormat>Affichage à l'écran (16:9)</PresentationFormat>
  <Paragraphs>108</Paragraphs>
  <Slides>18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18</vt:i4>
      </vt:variant>
    </vt:vector>
  </HeadingPairs>
  <TitlesOfParts>
    <vt:vector size="29" baseType="lpstr">
      <vt:lpstr>Lato</vt:lpstr>
      <vt:lpstr>Work Sans</vt:lpstr>
      <vt:lpstr>Proxima Nova</vt:lpstr>
      <vt:lpstr>Staatliches</vt:lpstr>
      <vt:lpstr>Roboto</vt:lpstr>
      <vt:lpstr>Work Sans Light</vt:lpstr>
      <vt:lpstr>Arial</vt:lpstr>
      <vt:lpstr>Anton</vt:lpstr>
      <vt:lpstr>Proxima Nova Semibold</vt:lpstr>
      <vt:lpstr>Hackathon Project Proposal by Slidesgo</vt:lpstr>
      <vt:lpstr>Slidesgo Final Pages</vt:lpstr>
      <vt:lpstr>Hackathon Morpion IA</vt:lpstr>
      <vt:lpstr>Table of matières</vt:lpstr>
      <vt:lpstr>CONTEXTE</vt:lpstr>
      <vt:lpstr>Notre Mission</vt:lpstr>
      <vt:lpstr>DATASET</vt:lpstr>
      <vt:lpstr>Génération du Dataset</vt:lpstr>
      <vt:lpstr>EDA</vt:lpstr>
      <vt:lpstr>Résultats EDA</vt:lpstr>
      <vt:lpstr>MODÈLES ML</vt:lpstr>
      <vt:lpstr>Résultats Baseline</vt:lpstr>
      <vt:lpstr>Comparaison des Modèles</vt:lpstr>
      <vt:lpstr>INTERFACE</vt:lpstr>
      <vt:lpstr>Interface Jouable — 3 Modes</vt:lpstr>
      <vt:lpstr>Q&amp;A &amp; ÉQUIPE</vt:lpstr>
      <vt:lpstr>Réponses Q1–Q4</vt:lpstr>
      <vt:lpstr>Notre Équipe</vt:lpstr>
      <vt:lpstr>Notre Équipe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Nathanos Aomine</cp:lastModifiedBy>
  <cp:revision>2</cp:revision>
  <dcterms:modified xsi:type="dcterms:W3CDTF">2026-03-31T11:36:09Z</dcterms:modified>
</cp:coreProperties>
</file>